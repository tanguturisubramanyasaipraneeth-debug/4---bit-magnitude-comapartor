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embeddedFontLst>
    <p:embeddedFont>
      <p:font typeface="Playfair Display Bold" panose="020B0604020202020204" charset="0"/>
      <p:regular r:id="rId12"/>
    </p:embeddedFont>
    <p:embeddedFont>
      <p:font typeface="Red Hat Mono" panose="020B0604020202020204" charset="0"/>
      <p:regular r:id="rId13"/>
    </p:embeddedFont>
    <p:embeddedFont>
      <p:font typeface="Red Hat Text" panose="020B0604020202020204" charset="0"/>
      <p:regular r:id="rId14"/>
    </p:embeddedFont>
    <p:embeddedFont>
      <p:font typeface="Red Hat Text Bold" panose="020B0604020202020204" charset="0"/>
      <p:regular r:id="rId15"/>
    </p:embeddedFont>
    <p:embeddedFont>
      <p:font typeface="Red Hat Text SemiBold"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6932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circuit as a decision maker for two four-bit words. Emphasize that the scan begins with the most significant bit, on the left, because that bit carries the greatest place value.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truth table row by row. The equal result appears for 00 and 11, while 10 means greater and 01 means less. These are local results; the full comparator still has to apply priority across bit positions.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Equality is the simplest full-word output. Each XNOR gate asks whether one pair matches. The AND gate allows equality through only when all four answers are yes.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repeated equality terms. E3 enables the bit-2 decision, E3E2 enables bit 1, and so on. That is the cascade: lower bits speak only when all higher bits have tied.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first example to make priority concrete. Although the lower three bits contain information, none of it can reverse the decision made by the most significant pair. The second example shows the only route to equality: every pair must match.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abstract outputs to familiar hardware. A processor can branch on a comparison, a controller can raise an alarm when a limit is crossed, and selection logic can choose one path from several.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one rule that makes the entire circuit understandable. Build the local gates, test the three outputs, and then reuse the same priority idea to scale from four bits to wider words.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E2A47"/>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2A2E32"/>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656082"/>
            <a:ext cx="8534187" cy="1481137"/>
          </a:xfrm>
          <a:prstGeom prst="rect">
            <a:avLst/>
          </a:prstGeom>
          <a:noFill/>
          <a:ln/>
        </p:spPr>
        <p:txBody>
          <a:bodyPr wrap="square" lIns="0" tIns="0" rIns="0" bIns="0" rtlCol="0" anchor="t">
            <a:normAutofit lnSpcReduction="10000"/>
          </a:bodyPr>
          <a:lstStyle/>
          <a:p>
            <a:pPr marL="0" indent="0" algn="l">
              <a:lnSpc>
                <a:spcPct val="90000"/>
              </a:lnSpc>
              <a:buNone/>
            </a:pPr>
            <a:r>
              <a:rPr lang="en-US" sz="3600" b="1" dirty="0">
                <a:solidFill>
                  <a:srgbClr val="F4B23E"/>
                </a:solidFill>
                <a:latin typeface="Playfair Display Bold" pitchFamily="34" charset="0"/>
                <a:ea typeface="Playfair Display Bold" pitchFamily="34" charset="-122"/>
                <a:cs typeface="Playfair Display Bold" pitchFamily="34" charset="-120"/>
              </a:rPr>
              <a:t>Design a 4-bit magnitude comparator (A&gt;B, A=B, (A&lt;B) and explain its working and applications.</a:t>
            </a:r>
            <a:endParaRPr lang="en-US" sz="3600" dirty="0"/>
          </a:p>
        </p:txBody>
      </p:sp>
      <p:sp>
        <p:nvSpPr>
          <p:cNvPr id="3" name="Text 1"/>
          <p:cNvSpPr/>
          <p:nvPr/>
        </p:nvSpPr>
        <p:spPr>
          <a:xfrm>
            <a:off x="609585" y="3258436"/>
            <a:ext cx="8534187" cy="274241"/>
          </a:xfrm>
          <a:prstGeom prst="rect">
            <a:avLst/>
          </a:prstGeom>
          <a:noFill/>
          <a:ln/>
        </p:spPr>
        <p:txBody>
          <a:bodyPr wrap="none" lIns="0" tIns="0" rIns="0" bIns="0" rtlCol="0" anchor="t"/>
          <a:lstStyle/>
          <a:p>
            <a:pPr marL="0" indent="0" algn="l">
              <a:lnSpc>
                <a:spcPct val="90000"/>
              </a:lnSpc>
              <a:buNone/>
            </a:pPr>
            <a:r>
              <a:rPr lang="en-US" sz="2000" b="1" dirty="0">
                <a:solidFill>
                  <a:srgbClr val="F4B23E"/>
                </a:solidFill>
                <a:latin typeface="Playfair Display Bold" pitchFamily="34" charset="0"/>
                <a:ea typeface="Playfair Display Bold" pitchFamily="34" charset="-122"/>
                <a:cs typeface="Playfair Display Bold" pitchFamily="34" charset="-120"/>
              </a:rPr>
              <a:t>TEAM MEMBERS</a:t>
            </a:r>
            <a:endParaRPr lang="en-US" sz="2000" dirty="0"/>
          </a:p>
        </p:txBody>
      </p:sp>
      <p:sp>
        <p:nvSpPr>
          <p:cNvPr id="4" name="Text 2"/>
          <p:cNvSpPr/>
          <p:nvPr/>
        </p:nvSpPr>
        <p:spPr>
          <a:xfrm>
            <a:off x="212770" y="3666226"/>
            <a:ext cx="8534187" cy="2114445"/>
          </a:xfrm>
          <a:prstGeom prst="rect">
            <a:avLst/>
          </a:prstGeom>
          <a:noFill/>
          <a:ln/>
        </p:spPr>
        <p:txBody>
          <a:bodyPr wrap="square" lIns="0" tIns="0" rIns="0" bIns="0" rtlCol="0" anchor="t"/>
          <a:lstStyle/>
          <a:p>
            <a:pPr marL="0" indent="0" algn="l">
              <a:lnSpc>
                <a:spcPct val="115000"/>
              </a:lnSpc>
              <a:spcAft>
                <a:spcPts val="2100"/>
              </a:spcAft>
              <a:buNone/>
            </a:pPr>
            <a:r>
              <a:rPr lang="en-US" sz="1600" b="1" dirty="0">
                <a:solidFill>
                  <a:srgbClr val="FFFFFF"/>
                </a:solidFill>
                <a:latin typeface="Playfair Display Bold" pitchFamily="34" charset="0"/>
                <a:ea typeface="Playfair Display Bold" pitchFamily="34" charset="-122"/>
                <a:cs typeface="Playfair Display Bold" pitchFamily="34" charset="-120"/>
              </a:rPr>
              <a:t>LALITH.N (2620030548)</a:t>
            </a:r>
            <a:endParaRPr lang="en-US" sz="1600" dirty="0"/>
          </a:p>
          <a:p>
            <a:pPr marL="0" indent="0" algn="l">
              <a:lnSpc>
                <a:spcPct val="115000"/>
              </a:lnSpc>
              <a:spcAft>
                <a:spcPts val="2100"/>
              </a:spcAft>
              <a:buNone/>
            </a:pPr>
            <a:r>
              <a:rPr lang="en-US" sz="1600" b="1" dirty="0">
                <a:solidFill>
                  <a:srgbClr val="FFFFFF"/>
                </a:solidFill>
                <a:latin typeface="Playfair Display Bold" pitchFamily="34" charset="0"/>
                <a:ea typeface="Playfair Display Bold" pitchFamily="34" charset="-122"/>
                <a:cs typeface="Playfair Display Bold" pitchFamily="34" charset="-120"/>
              </a:rPr>
              <a:t>PRANEETH.T (2620030624)</a:t>
            </a:r>
            <a:endParaRPr lang="en-US" sz="1600" dirty="0"/>
          </a:p>
          <a:p>
            <a:pPr marL="0" indent="0" algn="l">
              <a:lnSpc>
                <a:spcPct val="115000"/>
              </a:lnSpc>
              <a:buNone/>
            </a:pPr>
            <a:r>
              <a:rPr lang="en-US" sz="1600" b="1" dirty="0">
                <a:solidFill>
                  <a:srgbClr val="FFFFFF"/>
                </a:solidFill>
                <a:latin typeface="Playfair Display Bold" pitchFamily="34" charset="0"/>
                <a:ea typeface="Playfair Display Bold" pitchFamily="34" charset="-122"/>
                <a:cs typeface="Playfair Display Bold" pitchFamily="34" charset="-120"/>
              </a:rPr>
              <a:t>MONIKAVAISHNAVI.M(2620030544)</a:t>
            </a:r>
          </a:p>
          <a:p>
            <a:pPr marL="0" indent="0" algn="l">
              <a:lnSpc>
                <a:spcPct val="115000"/>
              </a:lnSpc>
              <a:buNone/>
            </a:pPr>
            <a:endParaRPr lang="en-US" sz="1600" b="1" dirty="0">
              <a:solidFill>
                <a:srgbClr val="FFFFFF"/>
              </a:solidFill>
              <a:latin typeface="Playfair Display Bold" pitchFamily="34" charset="0"/>
              <a:ea typeface="Playfair Display Bold" pitchFamily="34" charset="-122"/>
              <a:cs typeface="Playfair Display Bold" pitchFamily="34" charset="-120"/>
            </a:endParaRPr>
          </a:p>
          <a:p>
            <a:pPr>
              <a:lnSpc>
                <a:spcPct val="100000"/>
              </a:lnSpc>
            </a:pPr>
            <a:r>
              <a:rPr lang="en-IN" sz="2400" dirty="0">
                <a:solidFill>
                  <a:schemeClr val="bg1"/>
                </a:solidFill>
              </a:rPr>
              <a:t>Sahithya Reddy (2620030586)</a:t>
            </a:r>
          </a:p>
          <a:p>
            <a:r>
              <a:rPr lang="en-US" sz="2400" b="1" dirty="0">
                <a:solidFill>
                  <a:srgbClr val="F4B23E"/>
                </a:solidFill>
                <a:latin typeface="Playfair Display Bold" pitchFamily="34" charset="0"/>
                <a:ea typeface="Playfair Display Bold" pitchFamily="34" charset="-122"/>
                <a:cs typeface="Playfair Display Bold" pitchFamily="34" charset="-120"/>
              </a:rPr>
              <a:t>FACULTY NAME= MR.RAHUL</a:t>
            </a:r>
            <a:endParaRPr lang="en-US" sz="2400" dirty="0"/>
          </a:p>
          <a:p>
            <a:pPr>
              <a:lnSpc>
                <a:spcPct val="100000"/>
              </a:lnSpc>
            </a:pPr>
            <a:endParaRPr lang="en-IN" sz="2400" dirty="0">
              <a:solidFill>
                <a:schemeClr val="bg1"/>
              </a:solidFill>
            </a:endParaRPr>
          </a:p>
          <a:p>
            <a:pPr marL="0" indent="0" algn="l">
              <a:lnSpc>
                <a:spcPct val="115000"/>
              </a:lnSpc>
              <a:buNone/>
            </a:pPr>
            <a:r>
              <a:rPr lang="en-US" b="1" dirty="0">
                <a:solidFill>
                  <a:srgbClr val="FFFFFF"/>
                </a:solidFill>
                <a:latin typeface="Playfair Display Bold" pitchFamily="34" charset="0"/>
                <a:ea typeface="Playfair Display Bold" pitchFamily="34" charset="-122"/>
                <a:cs typeface="Playfair Display Bold" pitchFamily="34" charset="-120"/>
              </a:rPr>
              <a:t> (</a:t>
            </a:r>
          </a:p>
          <a:p>
            <a:pPr marL="0" indent="0" algn="l">
              <a:lnSpc>
                <a:spcPct val="115000"/>
              </a:lnSpc>
              <a:buNone/>
            </a:pPr>
            <a:r>
              <a:rPr lang="en-US" b="1" dirty="0">
                <a:solidFill>
                  <a:srgbClr val="FFFFFF"/>
                </a:solidFill>
                <a:latin typeface="Playfair Display Bold" pitchFamily="34" charset="0"/>
                <a:ea typeface="Playfair Display Bold" pitchFamily="34" charset="-122"/>
                <a:cs typeface="Playfair Display Bold" pitchFamily="34" charset="-120"/>
              </a:rPr>
              <a:t>\</a:t>
            </a:r>
          </a:p>
          <a:p>
            <a:pPr marL="0" indent="0" algn="l">
              <a:lnSpc>
                <a:spcPct val="115000"/>
              </a:lnSpc>
              <a:buNone/>
            </a:pPr>
            <a:endParaRPr lang="en-US" sz="1600" dirty="0"/>
          </a:p>
        </p:txBody>
      </p:sp>
      <p:sp>
        <p:nvSpPr>
          <p:cNvPr id="5" name="Text 3"/>
          <p:cNvSpPr/>
          <p:nvPr/>
        </p:nvSpPr>
        <p:spPr>
          <a:xfrm flipV="1">
            <a:off x="609585" y="5572664"/>
            <a:ext cx="8534187" cy="519340"/>
          </a:xfrm>
          <a:prstGeom prst="rect">
            <a:avLst/>
          </a:prstGeom>
          <a:noFill/>
          <a:ln/>
        </p:spPr>
        <p:txBody>
          <a:bodyPr wrap="none" lIns="0" tIns="0" rIns="0" bIns="0" rtlCol="0" anchor="t"/>
          <a:lstStyle/>
          <a:p>
            <a:pPr marL="0" indent="0" algn="l">
              <a:lnSpc>
                <a:spcPct val="90000"/>
              </a:lnSpc>
              <a:buNone/>
            </a:pPr>
            <a:endParaRPr lang="en-US" sz="2000" dirty="0"/>
          </a:p>
        </p:txBody>
      </p:sp>
      <p:pic>
        <p:nvPicPr>
          <p:cNvPr id="6" name="Image 0" descr="preencoded.png"/>
          <p:cNvPicPr>
            <a:picLocks noChangeAspect="1"/>
          </p:cNvPicPr>
          <p:nvPr/>
        </p:nvPicPr>
        <p:blipFill>
          <a:blip r:embed="rId3"/>
          <a:stretch>
            <a:fillRect/>
          </a:stretch>
        </p:blipFill>
        <p:spPr>
          <a:xfrm>
            <a:off x="11077000" y="6559252"/>
            <a:ext cx="1071833" cy="2559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7000" y="6559252"/>
            <a:ext cx="1071833" cy="255984"/>
          </a:xfrm>
          <a:prstGeom prst="rect">
            <a:avLst/>
          </a:prstGeom>
        </p:spPr>
      </p:pic>
      <p:sp>
        <p:nvSpPr>
          <p:cNvPr id="3" name="Text 0"/>
          <p:cNvSpPr/>
          <p:nvPr/>
        </p:nvSpPr>
        <p:spPr>
          <a:xfrm>
            <a:off x="609585" y="630138"/>
            <a:ext cx="5454117" cy="206375"/>
          </a:xfrm>
          <a:prstGeom prst="rect">
            <a:avLst/>
          </a:prstGeom>
          <a:noFill/>
          <a:ln/>
        </p:spPr>
        <p:txBody>
          <a:bodyPr wrap="none" lIns="0" tIns="0" rIns="0" bIns="0" rtlCol="0" anchor="t"/>
          <a:lstStyle/>
          <a:p>
            <a:pPr marL="0" indent="0" algn="l">
              <a:lnSpc>
                <a:spcPct val="104000"/>
              </a:lnSpc>
              <a:buNone/>
            </a:pPr>
            <a:r>
              <a:rPr lang="en-US" sz="1300" kern="100" spc="104" dirty="0">
                <a:solidFill>
                  <a:srgbClr val="D3E6EE"/>
                </a:solidFill>
                <a:latin typeface="Red Hat Mono" pitchFamily="34" charset="0"/>
                <a:ea typeface="Red Hat Mono" pitchFamily="34" charset="-122"/>
                <a:cs typeface="Red Hat Mono" pitchFamily="34" charset="-120"/>
              </a:rPr>
              <a:t>4-BIT MAGNITUDE COMPARATOR</a:t>
            </a:r>
            <a:endParaRPr lang="en-US" sz="1300" dirty="0"/>
          </a:p>
        </p:txBody>
      </p:sp>
      <p:sp>
        <p:nvSpPr>
          <p:cNvPr id="4" name="Text 1"/>
          <p:cNvSpPr/>
          <p:nvPr/>
        </p:nvSpPr>
        <p:spPr>
          <a:xfrm>
            <a:off x="609585" y="912959"/>
            <a:ext cx="3417405" cy="1481137"/>
          </a:xfrm>
          <a:prstGeom prst="rect">
            <a:avLst/>
          </a:prstGeom>
          <a:noFill/>
          <a:ln/>
        </p:spPr>
        <p:txBody>
          <a:bodyPr wrap="square" lIns="0" tIns="0" rIns="0" bIns="0" rtlCol="0" anchor="t">
            <a:normAutofit lnSpcReduction="10000"/>
          </a:bodyPr>
          <a:lstStyle/>
          <a:p>
            <a:pPr marL="0" indent="0" algn="l">
              <a:lnSpc>
                <a:spcPct val="90000"/>
              </a:lnSpc>
              <a:buNone/>
            </a:pPr>
            <a:r>
              <a:rPr lang="en-US" sz="3600" b="1" kern="100" spc="-44" dirty="0">
                <a:solidFill>
                  <a:srgbClr val="F4B23E"/>
                </a:solidFill>
                <a:latin typeface="Playfair Display Bold" pitchFamily="34" charset="0"/>
                <a:ea typeface="Playfair Display Bold" pitchFamily="34" charset="-122"/>
                <a:cs typeface="Playfair Display Bold" pitchFamily="34" charset="-120"/>
              </a:rPr>
              <a:t>Compare from the most significant bit</a:t>
            </a:r>
            <a:endParaRPr lang="en-US" sz="3600" dirty="0"/>
          </a:p>
        </p:txBody>
      </p:sp>
      <p:sp>
        <p:nvSpPr>
          <p:cNvPr id="5" name="Text 2"/>
          <p:cNvSpPr/>
          <p:nvPr/>
        </p:nvSpPr>
        <p:spPr>
          <a:xfrm>
            <a:off x="609585" y="3130149"/>
            <a:ext cx="3417405" cy="998934"/>
          </a:xfrm>
          <a:prstGeom prst="rect">
            <a:avLst/>
          </a:prstGeom>
          <a:noFill/>
          <a:ln/>
        </p:spPr>
        <p:txBody>
          <a:bodyPr wrap="square" lIns="0" tIns="0" rIns="0" bIns="0" rtlCol="0" anchor="t">
            <a:normAutofit/>
          </a:bodyPr>
          <a:lstStyle/>
          <a:p>
            <a:pPr marL="0" indent="0" algn="l">
              <a:lnSpc>
                <a:spcPct val="115000"/>
              </a:lnSpc>
              <a:buNone/>
            </a:pPr>
            <a:r>
              <a:rPr lang="en-US" sz="1900" dirty="0">
                <a:solidFill>
                  <a:srgbClr val="E4E9EB"/>
                </a:solidFill>
                <a:latin typeface="Red Hat Text" pitchFamily="34" charset="0"/>
                <a:ea typeface="Red Hat Text" pitchFamily="34" charset="-122"/>
                <a:cs typeface="Red Hat Text" pitchFamily="34" charset="-120"/>
              </a:rPr>
              <a:t>A comparator reads two binary words, A and B, and decides which one is larger.</a:t>
            </a:r>
            <a:endParaRPr lang="en-US" sz="1900" dirty="0"/>
          </a:p>
        </p:txBody>
      </p:sp>
      <p:sp>
        <p:nvSpPr>
          <p:cNvPr id="6" name="Text 3"/>
          <p:cNvSpPr/>
          <p:nvPr/>
        </p:nvSpPr>
        <p:spPr>
          <a:xfrm>
            <a:off x="609585" y="4349512"/>
            <a:ext cx="3417405" cy="462161"/>
          </a:xfrm>
          <a:prstGeom prst="rect">
            <a:avLst/>
          </a:prstGeom>
          <a:noFill/>
          <a:ln/>
        </p:spPr>
        <p:txBody>
          <a:bodyPr wrap="square" lIns="0" tIns="0" rIns="0" bIns="0" rtlCol="0" anchor="t">
            <a:normAutofit/>
          </a:bodyPr>
          <a:lstStyle/>
          <a:p>
            <a:pPr marL="0" indent="0" algn="l">
              <a:lnSpc>
                <a:spcPct val="108000"/>
              </a:lnSpc>
              <a:buNone/>
            </a:pPr>
            <a:r>
              <a:rPr lang="en-US" sz="1400" kern="100" spc="7" dirty="0">
                <a:solidFill>
                  <a:srgbClr val="A9B6BB"/>
                </a:solidFill>
                <a:latin typeface="Red Hat Text" pitchFamily="34" charset="0"/>
                <a:ea typeface="Red Hat Text" pitchFamily="34" charset="-122"/>
                <a:cs typeface="Red Hat Text" pitchFamily="34" charset="-120"/>
              </a:rPr>
              <a:t>Start at the left. The first unequal bit settles the result.</a:t>
            </a:r>
            <a:endParaRPr lang="en-US" sz="1400" dirty="0"/>
          </a:p>
        </p:txBody>
      </p:sp>
      <p:sp>
        <p:nvSpPr>
          <p:cNvPr id="7" name="Text 4"/>
          <p:cNvSpPr/>
          <p:nvPr/>
        </p:nvSpPr>
        <p:spPr>
          <a:xfrm>
            <a:off x="5760397" y="630116"/>
            <a:ext cx="2624965" cy="299641"/>
          </a:xfrm>
          <a:prstGeom prst="rect">
            <a:avLst/>
          </a:prstGeom>
          <a:noFill/>
          <a:ln/>
        </p:spPr>
        <p:txBody>
          <a:bodyPr wrap="none" lIns="0" tIns="0" rIns="0" bIns="0" rtlCol="0" anchor="t"/>
          <a:lstStyle/>
          <a:p>
            <a:pPr marL="0" indent="0" algn="l">
              <a:lnSpc>
                <a:spcPct val="98000"/>
              </a:lnSpc>
              <a:buNone/>
            </a:pPr>
            <a:r>
              <a:rPr lang="en-US" sz="2000" b="1" dirty="0">
                <a:solidFill>
                  <a:srgbClr val="F4B23E"/>
                </a:solidFill>
                <a:latin typeface="Red Hat Text Bold" pitchFamily="34" charset="0"/>
                <a:ea typeface="Red Hat Text Bold" pitchFamily="34" charset="-122"/>
                <a:cs typeface="Red Hat Text Bold" pitchFamily="34" charset="-120"/>
              </a:rPr>
              <a:t>Inputs</a:t>
            </a:r>
            <a:endParaRPr lang="en-US" sz="2000" dirty="0"/>
          </a:p>
        </p:txBody>
      </p:sp>
      <p:sp>
        <p:nvSpPr>
          <p:cNvPr id="8" name="Text 5"/>
          <p:cNvSpPr/>
          <p:nvPr/>
        </p:nvSpPr>
        <p:spPr>
          <a:xfrm>
            <a:off x="5760397" y="1054195"/>
            <a:ext cx="2682113" cy="665956"/>
          </a:xfrm>
          <a:prstGeom prst="rect">
            <a:avLst/>
          </a:prstGeom>
          <a:noFill/>
          <a:ln/>
        </p:spPr>
        <p:txBody>
          <a:bodyPr wrap="square" lIns="0" tIns="0" rIns="0" bIns="0" rtlCol="0" anchor="t">
            <a:normAutofit/>
          </a:bodyPr>
          <a:lstStyle/>
          <a:p>
            <a:pPr marL="0" indent="0" algn="l">
              <a:lnSpc>
                <a:spcPct val="115000"/>
              </a:lnSpc>
              <a:buNone/>
            </a:pPr>
            <a:r>
              <a:rPr lang="en-US" sz="1900" dirty="0">
                <a:solidFill>
                  <a:srgbClr val="E4E9EB"/>
                </a:solidFill>
                <a:latin typeface="Red Hat Text" pitchFamily="34" charset="0"/>
                <a:ea typeface="Red Hat Text" pitchFamily="34" charset="-122"/>
                <a:cs typeface="Red Hat Text" pitchFamily="34" charset="-120"/>
              </a:rPr>
              <a:t>A3…A0</a:t>
            </a:r>
            <a:endParaRPr lang="en-US" sz="1900" dirty="0"/>
          </a:p>
          <a:p>
            <a:pPr marL="0" indent="0" algn="l">
              <a:lnSpc>
                <a:spcPct val="115000"/>
              </a:lnSpc>
              <a:buNone/>
            </a:pPr>
            <a:r>
              <a:rPr lang="en-US" sz="1900" dirty="0">
                <a:solidFill>
                  <a:srgbClr val="E4E9EB"/>
                </a:solidFill>
                <a:latin typeface="Red Hat Text" pitchFamily="34" charset="0"/>
                <a:ea typeface="Red Hat Text" pitchFamily="34" charset="-122"/>
                <a:cs typeface="Red Hat Text" pitchFamily="34" charset="-120"/>
              </a:rPr>
              <a:t>B3…B0</a:t>
            </a:r>
            <a:endParaRPr lang="en-US" sz="1900" dirty="0"/>
          </a:p>
        </p:txBody>
      </p:sp>
      <p:sp>
        <p:nvSpPr>
          <p:cNvPr id="9" name="Text 6"/>
          <p:cNvSpPr/>
          <p:nvPr/>
        </p:nvSpPr>
        <p:spPr>
          <a:xfrm>
            <a:off x="8899898" y="630116"/>
            <a:ext cx="2624965" cy="299641"/>
          </a:xfrm>
          <a:prstGeom prst="rect">
            <a:avLst/>
          </a:prstGeom>
          <a:noFill/>
          <a:ln/>
        </p:spPr>
        <p:txBody>
          <a:bodyPr wrap="none" lIns="0" tIns="0" rIns="0" bIns="0" rtlCol="0" anchor="t"/>
          <a:lstStyle/>
          <a:p>
            <a:pPr marL="0" indent="0" algn="l">
              <a:lnSpc>
                <a:spcPct val="98000"/>
              </a:lnSpc>
              <a:buNone/>
            </a:pPr>
            <a:r>
              <a:rPr lang="en-US" sz="2000" b="1" dirty="0">
                <a:solidFill>
                  <a:srgbClr val="F4B23E"/>
                </a:solidFill>
                <a:latin typeface="Red Hat Text Bold" pitchFamily="34" charset="0"/>
                <a:ea typeface="Red Hat Text Bold" pitchFamily="34" charset="-122"/>
                <a:cs typeface="Red Hat Text Bold" pitchFamily="34" charset="-120"/>
              </a:rPr>
              <a:t>Priority scan</a:t>
            </a:r>
            <a:endParaRPr lang="en-US" sz="2000" dirty="0"/>
          </a:p>
        </p:txBody>
      </p:sp>
      <p:sp>
        <p:nvSpPr>
          <p:cNvPr id="10" name="Text 7"/>
          <p:cNvSpPr/>
          <p:nvPr/>
        </p:nvSpPr>
        <p:spPr>
          <a:xfrm>
            <a:off x="8899898" y="1085648"/>
            <a:ext cx="2624965" cy="332978"/>
          </a:xfrm>
          <a:prstGeom prst="rect">
            <a:avLst/>
          </a:prstGeom>
          <a:noFill/>
          <a:ln/>
        </p:spPr>
        <p:txBody>
          <a:bodyPr wrap="none" lIns="0" tIns="0" rIns="0" bIns="0" rtlCol="0" anchor="t"/>
          <a:lstStyle/>
          <a:p>
            <a:pPr marL="0" indent="0" algn="l">
              <a:lnSpc>
                <a:spcPct val="115000"/>
              </a:lnSpc>
              <a:buNone/>
            </a:pPr>
            <a:r>
              <a:rPr lang="en-US" sz="1900" dirty="0">
                <a:solidFill>
                  <a:srgbClr val="E4E9EB"/>
                </a:solidFill>
                <a:latin typeface="Red Hat Text" pitchFamily="34" charset="0"/>
                <a:ea typeface="Red Hat Text" pitchFamily="34" charset="-122"/>
                <a:cs typeface="Red Hat Text" pitchFamily="34" charset="-120"/>
              </a:rPr>
              <a:t>MSB → LSB</a:t>
            </a:r>
            <a:endParaRPr lang="en-US" sz="1900" dirty="0"/>
          </a:p>
        </p:txBody>
      </p:sp>
      <p:sp>
        <p:nvSpPr>
          <p:cNvPr id="11" name="Text 8"/>
          <p:cNvSpPr/>
          <p:nvPr/>
        </p:nvSpPr>
        <p:spPr>
          <a:xfrm>
            <a:off x="8899898" y="1650183"/>
            <a:ext cx="2624965" cy="299641"/>
          </a:xfrm>
          <a:prstGeom prst="rect">
            <a:avLst/>
          </a:prstGeom>
          <a:noFill/>
          <a:ln/>
        </p:spPr>
        <p:txBody>
          <a:bodyPr wrap="none" lIns="0" tIns="0" rIns="0" bIns="0" rtlCol="0" anchor="t"/>
          <a:lstStyle/>
          <a:p>
            <a:pPr marL="0" indent="0" algn="l">
              <a:lnSpc>
                <a:spcPct val="98000"/>
              </a:lnSpc>
              <a:buNone/>
            </a:pPr>
            <a:r>
              <a:rPr lang="en-US" sz="2000" b="1" dirty="0">
                <a:solidFill>
                  <a:srgbClr val="F4B23E"/>
                </a:solidFill>
                <a:latin typeface="Red Hat Text Bold" pitchFamily="34" charset="0"/>
                <a:ea typeface="Red Hat Text Bold" pitchFamily="34" charset="-122"/>
                <a:cs typeface="Red Hat Text Bold" pitchFamily="34" charset="-120"/>
              </a:rPr>
              <a:t>One result</a:t>
            </a:r>
            <a:endParaRPr lang="en-US" sz="2000" dirty="0"/>
          </a:p>
        </p:txBody>
      </p:sp>
      <p:sp>
        <p:nvSpPr>
          <p:cNvPr id="12" name="Text 9"/>
          <p:cNvSpPr/>
          <p:nvPr/>
        </p:nvSpPr>
        <p:spPr>
          <a:xfrm>
            <a:off x="8899898" y="2105716"/>
            <a:ext cx="2624965" cy="332978"/>
          </a:xfrm>
          <a:prstGeom prst="rect">
            <a:avLst/>
          </a:prstGeom>
          <a:noFill/>
          <a:ln/>
        </p:spPr>
        <p:txBody>
          <a:bodyPr wrap="none" lIns="0" tIns="0" rIns="0" bIns="0" rtlCol="0" anchor="t"/>
          <a:lstStyle/>
          <a:p>
            <a:pPr marL="0" indent="0" algn="l">
              <a:lnSpc>
                <a:spcPct val="115000"/>
              </a:lnSpc>
              <a:buNone/>
            </a:pPr>
            <a:r>
              <a:rPr lang="en-US" sz="1900" dirty="0">
                <a:solidFill>
                  <a:srgbClr val="E4E9EB"/>
                </a:solidFill>
                <a:latin typeface="Red Hat Text" pitchFamily="34" charset="0"/>
                <a:ea typeface="Red Hat Text" pitchFamily="34" charset="-122"/>
                <a:cs typeface="Red Hat Text" pitchFamily="34" charset="-120"/>
              </a:rPr>
              <a:t>A&gt;B · A=B · A&lt;B</a:t>
            </a:r>
            <a:endParaRPr lang="en-US" sz="1900" dirty="0"/>
          </a:p>
        </p:txBody>
      </p:sp>
      <p:pic>
        <p:nvPicPr>
          <p:cNvPr id="13" name="Image 1" descr="preencoded.png"/>
          <p:cNvPicPr>
            <a:picLocks noChangeAspect="1"/>
          </p:cNvPicPr>
          <p:nvPr/>
        </p:nvPicPr>
        <p:blipFill>
          <a:blip r:embed="rId4"/>
          <a:stretch>
            <a:fillRect/>
          </a:stretch>
        </p:blipFill>
        <p:spPr>
          <a:xfrm>
            <a:off x="5760397" y="2433638"/>
            <a:ext cx="5821614" cy="381476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23788"/>
            <a:ext cx="11582110" cy="134938"/>
          </a:xfrm>
          <a:prstGeom prst="rect">
            <a:avLst/>
          </a:prstGeom>
          <a:noFill/>
          <a:ln/>
        </p:spPr>
        <p:txBody>
          <a:bodyPr wrap="none" lIns="0" tIns="0" rIns="0" bIns="0" rtlCol="0" anchor="t"/>
          <a:lstStyle/>
          <a:p>
            <a:pPr marL="0" indent="0" algn="l">
              <a:lnSpc>
                <a:spcPct val="104000"/>
              </a:lnSpc>
              <a:buNone/>
            </a:pPr>
            <a:r>
              <a:rPr lang="en-US" sz="850" kern="100" spc="67" dirty="0">
                <a:solidFill>
                  <a:srgbClr val="D3E6EE"/>
                </a:solidFill>
                <a:latin typeface="Red Hat Mono" pitchFamily="34" charset="0"/>
                <a:ea typeface="Red Hat Mono" pitchFamily="34" charset="-122"/>
                <a:cs typeface="Red Hat Mono" pitchFamily="34" charset="-120"/>
              </a:rPr>
              <a:t>LOCAL DECISION · ONE BIT PAIR</a:t>
            </a:r>
            <a:endParaRPr lang="en-US" sz="850" dirty="0"/>
          </a:p>
        </p:txBody>
      </p:sp>
      <p:sp>
        <p:nvSpPr>
          <p:cNvPr id="3" name="Text 1"/>
          <p:cNvSpPr/>
          <p:nvPr/>
        </p:nvSpPr>
        <p:spPr>
          <a:xfrm>
            <a:off x="609585" y="790299"/>
            <a:ext cx="10972526" cy="322263"/>
          </a:xfrm>
          <a:prstGeom prst="rect">
            <a:avLst/>
          </a:prstGeom>
          <a:noFill/>
          <a:ln/>
        </p:spPr>
        <p:txBody>
          <a:bodyPr wrap="none" lIns="0" tIns="0" rIns="0" bIns="0" rtlCol="0" anchor="t"/>
          <a:lstStyle/>
          <a:p>
            <a:pPr marL="0" indent="0" algn="l">
              <a:lnSpc>
                <a:spcPct val="90000"/>
              </a:lnSpc>
              <a:buNone/>
            </a:pPr>
            <a:r>
              <a:rPr lang="en-US" sz="2350" b="1" kern="100" spc="-23" dirty="0">
                <a:solidFill>
                  <a:srgbClr val="F4B23E"/>
                </a:solidFill>
                <a:latin typeface="Playfair Display Bold" pitchFamily="34" charset="0"/>
                <a:ea typeface="Playfair Display Bold" pitchFamily="34" charset="-122"/>
                <a:cs typeface="Playfair Display Bold" pitchFamily="34" charset="-120"/>
              </a:rPr>
              <a:t>Each bit pair produces three local results</a:t>
            </a:r>
            <a:endParaRPr lang="en-US" sz="23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09585" y="1624211"/>
          <a:ext cx="5511664" cy="1575555"/>
        </p:xfrm>
        <a:graphic>
          <a:graphicData uri="http://schemas.openxmlformats.org/drawingml/2006/table">
            <a:tbl>
              <a:tblPr/>
              <a:tblGrid>
                <a:gridCol w="1377916">
                  <a:extLst>
                    <a:ext uri="{9D8B030D-6E8A-4147-A177-3AD203B41FA5}">
                      <a16:colId xmlns:a16="http://schemas.microsoft.com/office/drawing/2014/main" val="20000"/>
                    </a:ext>
                  </a:extLst>
                </a:gridCol>
                <a:gridCol w="1377916">
                  <a:extLst>
                    <a:ext uri="{9D8B030D-6E8A-4147-A177-3AD203B41FA5}">
                      <a16:colId xmlns:a16="http://schemas.microsoft.com/office/drawing/2014/main" val="20001"/>
                    </a:ext>
                  </a:extLst>
                </a:gridCol>
                <a:gridCol w="1377916">
                  <a:extLst>
                    <a:ext uri="{9D8B030D-6E8A-4147-A177-3AD203B41FA5}">
                      <a16:colId xmlns:a16="http://schemas.microsoft.com/office/drawing/2014/main" val="20002"/>
                    </a:ext>
                  </a:extLst>
                </a:gridCol>
                <a:gridCol w="1377916">
                  <a:extLst>
                    <a:ext uri="{9D8B030D-6E8A-4147-A177-3AD203B41FA5}">
                      <a16:colId xmlns:a16="http://schemas.microsoft.com/office/drawing/2014/main" val="20003"/>
                    </a:ext>
                  </a:extLst>
                </a:gridCol>
              </a:tblGrid>
              <a:tr h="315111">
                <a:tc>
                  <a:txBody>
                    <a:bodyPr/>
                    <a:lstStyle/>
                    <a:p>
                      <a:pPr marL="0" indent="0" algn="l">
                        <a:buNone/>
                      </a:pPr>
                      <a:r>
                        <a:rPr lang="en-US" sz="1250" dirty="0">
                          <a:solidFill>
                            <a:srgbClr val="D3E6EE"/>
                          </a:solidFill>
                          <a:latin typeface="Red Hat Text" pitchFamily="34" charset="0"/>
                          <a:ea typeface="Red Hat Text" pitchFamily="34" charset="-122"/>
                          <a:cs typeface="Red Hat Text" pitchFamily="34" charset="-120"/>
                        </a:rPr>
                        <a:t>Ai</a:t>
                      </a:r>
                      <a:endParaRPr lang="en-US" sz="1250" dirty="0">
                        <a:latin typeface="Red Hat Text" charset="0"/>
                        <a:ea typeface="Red Hat Text" charset="0"/>
                        <a:cs typeface="Red Hat Text" charset="0"/>
                      </a:endParaRPr>
                    </a:p>
                  </a:txBody>
                  <a:tcPr marL="116964" marR="104265" marT="51942" marB="51942"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250" dirty="0">
                          <a:solidFill>
                            <a:srgbClr val="D3E6EE"/>
                          </a:solidFill>
                          <a:latin typeface="Red Hat Text" pitchFamily="34" charset="0"/>
                          <a:ea typeface="Red Hat Text" pitchFamily="34" charset="-122"/>
                          <a:cs typeface="Red Hat Text" pitchFamily="34" charset="-120"/>
                        </a:rPr>
                        <a:t>Bi</a:t>
                      </a:r>
                      <a:endParaRPr lang="en-US" sz="1250" dirty="0">
                        <a:latin typeface="Red Hat Text" charset="0"/>
                        <a:ea typeface="Red Hat Text" charset="0"/>
                        <a:cs typeface="Red Hat Text" charset="0"/>
                      </a:endParaRPr>
                    </a:p>
                  </a:txBody>
                  <a:tcPr marL="116964" marR="104265" marT="51942" marB="51942"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250" dirty="0">
                          <a:solidFill>
                            <a:srgbClr val="D3E6EE"/>
                          </a:solidFill>
                          <a:latin typeface="Red Hat Text" pitchFamily="34" charset="0"/>
                          <a:ea typeface="Red Hat Text" pitchFamily="34" charset="-122"/>
                          <a:cs typeface="Red Hat Text" pitchFamily="34" charset="-120"/>
                        </a:rPr>
                        <a:t>Local result</a:t>
                      </a:r>
                      <a:endParaRPr lang="en-US" sz="1250" dirty="0">
                        <a:latin typeface="Red Hat Text" charset="0"/>
                        <a:ea typeface="Red Hat Text" charset="0"/>
                        <a:cs typeface="Red Hat Text" charset="0"/>
                      </a:endParaRPr>
                    </a:p>
                  </a:txBody>
                  <a:tcPr marL="116964" marR="104265" marT="51942" marB="51942"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250" dirty="0">
                          <a:solidFill>
                            <a:srgbClr val="D3E6EE"/>
                          </a:solidFill>
                          <a:latin typeface="Red Hat Text" pitchFamily="34" charset="0"/>
                          <a:ea typeface="Red Hat Text" pitchFamily="34" charset="-122"/>
                          <a:cs typeface="Red Hat Text" pitchFamily="34" charset="-120"/>
                        </a:rPr>
                        <a:t>Meaning</a:t>
                      </a:r>
                      <a:endParaRPr lang="en-US" sz="1250" dirty="0">
                        <a:latin typeface="Red Hat Text" charset="0"/>
                        <a:ea typeface="Red Hat Text" charset="0"/>
                        <a:cs typeface="Red Hat Text" charset="0"/>
                      </a:endParaRPr>
                    </a:p>
                  </a:txBody>
                  <a:tcPr marL="116964" marR="116964" marT="51942" marB="51942"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extLst>
                  <a:ext uri="{0D108BD9-81ED-4DB2-BD59-A6C34878D82A}">
                    <a16:rowId xmlns:a16="http://schemas.microsoft.com/office/drawing/2014/main" val="10000"/>
                  </a:ext>
                </a:extLst>
              </a:tr>
              <a:tr h="315111">
                <a:tc>
                  <a:txBody>
                    <a:bodyPr/>
                    <a:lstStyle/>
                    <a:p>
                      <a:pPr marL="0" indent="0" algn="l">
                        <a:buNone/>
                      </a:pPr>
                      <a:r>
                        <a:rPr lang="en-US" sz="1250" dirty="0">
                          <a:solidFill>
                            <a:srgbClr val="E4E9EB"/>
                          </a:solidFill>
                          <a:latin typeface="Red Hat Text" pitchFamily="34" charset="0"/>
                          <a:ea typeface="Red Hat Text" pitchFamily="34" charset="-122"/>
                          <a:cs typeface="Red Hat Text" pitchFamily="34" charset="-120"/>
                        </a:rPr>
                        <a:t>0</a:t>
                      </a:r>
                      <a:endParaRPr lang="en-US" sz="1250" dirty="0">
                        <a:latin typeface="Red Hat Text" charset="0"/>
                        <a:ea typeface="Red Hat Text" charset="0"/>
                        <a:cs typeface="Red Hat Text" charset="0"/>
                      </a:endParaRPr>
                    </a:p>
                  </a:txBody>
                  <a:tcPr marL="116964" marR="104265" marT="51942" marB="51942"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250" dirty="0">
                          <a:solidFill>
                            <a:srgbClr val="E4E9EB"/>
                          </a:solidFill>
                          <a:latin typeface="Red Hat Text" pitchFamily="34" charset="0"/>
                          <a:ea typeface="Red Hat Text" pitchFamily="34" charset="-122"/>
                          <a:cs typeface="Red Hat Text" pitchFamily="34" charset="-120"/>
                        </a:rPr>
                        <a:t>0</a:t>
                      </a:r>
                      <a:endParaRPr lang="en-US" sz="1250" dirty="0">
                        <a:latin typeface="Red Hat Text" charset="0"/>
                        <a:ea typeface="Red Hat Text" charset="0"/>
                        <a:cs typeface="Red Hat Text" charset="0"/>
                      </a:endParaRPr>
                    </a:p>
                  </a:txBody>
                  <a:tcPr marL="116964" marR="104265" marT="51942" marB="51942"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250" dirty="0">
                          <a:solidFill>
                            <a:srgbClr val="E4E9EB"/>
                          </a:solidFill>
                          <a:latin typeface="Red Hat Text" pitchFamily="34" charset="0"/>
                          <a:ea typeface="Red Hat Text" pitchFamily="34" charset="-122"/>
                          <a:cs typeface="Red Hat Text" pitchFamily="34" charset="-120"/>
                        </a:rPr>
                        <a:t>Equal</a:t>
                      </a:r>
                      <a:endParaRPr lang="en-US" sz="1250" dirty="0">
                        <a:latin typeface="Red Hat Text" charset="0"/>
                        <a:ea typeface="Red Hat Text" charset="0"/>
                        <a:cs typeface="Red Hat Text" charset="0"/>
                      </a:endParaRPr>
                    </a:p>
                  </a:txBody>
                  <a:tcPr marL="116964" marR="104265" marT="51942" marB="51942"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250" dirty="0">
                          <a:solidFill>
                            <a:srgbClr val="E4E9EB"/>
                          </a:solidFill>
                          <a:latin typeface="Red Hat Text" pitchFamily="34" charset="0"/>
                          <a:ea typeface="Red Hat Text" pitchFamily="34" charset="-122"/>
                          <a:cs typeface="Red Hat Text" pitchFamily="34" charset="-120"/>
                        </a:rPr>
                        <a:t>Ai XNOR Bi</a:t>
                      </a:r>
                      <a:endParaRPr lang="en-US" sz="1250" dirty="0">
                        <a:latin typeface="Red Hat Text" charset="0"/>
                        <a:ea typeface="Red Hat Text" charset="0"/>
                        <a:cs typeface="Red Hat Text" charset="0"/>
                      </a:endParaRPr>
                    </a:p>
                  </a:txBody>
                  <a:tcPr marL="116964" marR="116964" marT="51942" marB="51942"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extLst>
                  <a:ext uri="{0D108BD9-81ED-4DB2-BD59-A6C34878D82A}">
                    <a16:rowId xmlns:a16="http://schemas.microsoft.com/office/drawing/2014/main" val="10001"/>
                  </a:ext>
                </a:extLst>
              </a:tr>
              <a:tr h="315111">
                <a:tc>
                  <a:txBody>
                    <a:bodyPr/>
                    <a:lstStyle/>
                    <a:p>
                      <a:pPr marL="0" indent="0" algn="l">
                        <a:buNone/>
                      </a:pPr>
                      <a:r>
                        <a:rPr lang="en-US" sz="1250" dirty="0">
                          <a:solidFill>
                            <a:srgbClr val="E4E9EB"/>
                          </a:solidFill>
                          <a:latin typeface="Red Hat Text" pitchFamily="34" charset="0"/>
                          <a:ea typeface="Red Hat Text" pitchFamily="34" charset="-122"/>
                          <a:cs typeface="Red Hat Text" pitchFamily="34" charset="-120"/>
                        </a:rPr>
                        <a:t>0</a:t>
                      </a:r>
                      <a:endParaRPr lang="en-US" sz="1250" dirty="0">
                        <a:latin typeface="Red Hat Text" charset="0"/>
                        <a:ea typeface="Red Hat Text" charset="0"/>
                        <a:cs typeface="Red Hat Text" charset="0"/>
                      </a:endParaRPr>
                    </a:p>
                  </a:txBody>
                  <a:tcPr marL="116964" marR="104265" marT="51942" marB="51942"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250" dirty="0">
                          <a:solidFill>
                            <a:srgbClr val="E4E9EB"/>
                          </a:solidFill>
                          <a:latin typeface="Red Hat Text" pitchFamily="34" charset="0"/>
                          <a:ea typeface="Red Hat Text" pitchFamily="34" charset="-122"/>
                          <a:cs typeface="Red Hat Text" pitchFamily="34" charset="-120"/>
                        </a:rPr>
                        <a:t>1</a:t>
                      </a:r>
                      <a:endParaRPr lang="en-US" sz="1250" dirty="0">
                        <a:latin typeface="Red Hat Text" charset="0"/>
                        <a:ea typeface="Red Hat Text" charset="0"/>
                        <a:cs typeface="Red Hat Text" charset="0"/>
                      </a:endParaRPr>
                    </a:p>
                  </a:txBody>
                  <a:tcPr marL="116964" marR="104265" marT="51942" marB="51942"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250" dirty="0">
                          <a:solidFill>
                            <a:srgbClr val="E4E9EB"/>
                          </a:solidFill>
                          <a:latin typeface="Red Hat Text" pitchFamily="34" charset="0"/>
                          <a:ea typeface="Red Hat Text" pitchFamily="34" charset="-122"/>
                          <a:cs typeface="Red Hat Text" pitchFamily="34" charset="-120"/>
                        </a:rPr>
                        <a:t>Less</a:t>
                      </a:r>
                      <a:endParaRPr lang="en-US" sz="1250" dirty="0">
                        <a:latin typeface="Red Hat Text" charset="0"/>
                        <a:ea typeface="Red Hat Text" charset="0"/>
                        <a:cs typeface="Red Hat Text" charset="0"/>
                      </a:endParaRPr>
                    </a:p>
                  </a:txBody>
                  <a:tcPr marL="116964" marR="104265" marT="51942" marB="51942"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250" dirty="0">
                          <a:solidFill>
                            <a:srgbClr val="E4E9EB"/>
                          </a:solidFill>
                          <a:latin typeface="Red Hat Text" pitchFamily="34" charset="0"/>
                          <a:ea typeface="Red Hat Text" pitchFamily="34" charset="-122"/>
                          <a:cs typeface="Red Hat Text" pitchFamily="34" charset="-120"/>
                        </a:rPr>
                        <a:t>¬Ai · Bi</a:t>
                      </a:r>
                      <a:endParaRPr lang="en-US" sz="1250" dirty="0">
                        <a:latin typeface="Red Hat Text" charset="0"/>
                        <a:ea typeface="Red Hat Text" charset="0"/>
                        <a:cs typeface="Red Hat Text" charset="0"/>
                      </a:endParaRPr>
                    </a:p>
                  </a:txBody>
                  <a:tcPr marL="116964" marR="116964" marT="51942" marB="51942"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extLst>
                  <a:ext uri="{0D108BD9-81ED-4DB2-BD59-A6C34878D82A}">
                    <a16:rowId xmlns:a16="http://schemas.microsoft.com/office/drawing/2014/main" val="10002"/>
                  </a:ext>
                </a:extLst>
              </a:tr>
              <a:tr h="315111">
                <a:tc>
                  <a:txBody>
                    <a:bodyPr/>
                    <a:lstStyle/>
                    <a:p>
                      <a:pPr marL="0" indent="0" algn="l">
                        <a:buNone/>
                      </a:pPr>
                      <a:r>
                        <a:rPr lang="en-US" sz="1250" dirty="0">
                          <a:solidFill>
                            <a:srgbClr val="E4E9EB"/>
                          </a:solidFill>
                          <a:latin typeface="Red Hat Text" pitchFamily="34" charset="0"/>
                          <a:ea typeface="Red Hat Text" pitchFamily="34" charset="-122"/>
                          <a:cs typeface="Red Hat Text" pitchFamily="34" charset="-120"/>
                        </a:rPr>
                        <a:t>1</a:t>
                      </a:r>
                      <a:endParaRPr lang="en-US" sz="1250" dirty="0">
                        <a:latin typeface="Red Hat Text" charset="0"/>
                        <a:ea typeface="Red Hat Text" charset="0"/>
                        <a:cs typeface="Red Hat Text" charset="0"/>
                      </a:endParaRPr>
                    </a:p>
                  </a:txBody>
                  <a:tcPr marL="116964" marR="104265" marT="51942" marB="51942"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250" dirty="0">
                          <a:solidFill>
                            <a:srgbClr val="E4E9EB"/>
                          </a:solidFill>
                          <a:latin typeface="Red Hat Text" pitchFamily="34" charset="0"/>
                          <a:ea typeface="Red Hat Text" pitchFamily="34" charset="-122"/>
                          <a:cs typeface="Red Hat Text" pitchFamily="34" charset="-120"/>
                        </a:rPr>
                        <a:t>0</a:t>
                      </a:r>
                      <a:endParaRPr lang="en-US" sz="1250" dirty="0">
                        <a:latin typeface="Red Hat Text" charset="0"/>
                        <a:ea typeface="Red Hat Text" charset="0"/>
                        <a:cs typeface="Red Hat Text" charset="0"/>
                      </a:endParaRPr>
                    </a:p>
                  </a:txBody>
                  <a:tcPr marL="116964" marR="104265" marT="51942" marB="51942"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250" dirty="0">
                          <a:solidFill>
                            <a:srgbClr val="E4E9EB"/>
                          </a:solidFill>
                          <a:latin typeface="Red Hat Text" pitchFamily="34" charset="0"/>
                          <a:ea typeface="Red Hat Text" pitchFamily="34" charset="-122"/>
                          <a:cs typeface="Red Hat Text" pitchFamily="34" charset="-120"/>
                        </a:rPr>
                        <a:t>Greater</a:t>
                      </a:r>
                      <a:endParaRPr lang="en-US" sz="1250" dirty="0">
                        <a:latin typeface="Red Hat Text" charset="0"/>
                        <a:ea typeface="Red Hat Text" charset="0"/>
                        <a:cs typeface="Red Hat Text" charset="0"/>
                      </a:endParaRPr>
                    </a:p>
                  </a:txBody>
                  <a:tcPr marL="116964" marR="104265" marT="51942" marB="51942"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250" dirty="0">
                          <a:solidFill>
                            <a:srgbClr val="E4E9EB"/>
                          </a:solidFill>
                          <a:latin typeface="Red Hat Text" pitchFamily="34" charset="0"/>
                          <a:ea typeface="Red Hat Text" pitchFamily="34" charset="-122"/>
                          <a:cs typeface="Red Hat Text" pitchFamily="34" charset="-120"/>
                        </a:rPr>
                        <a:t>Ai · ¬Bi</a:t>
                      </a:r>
                      <a:endParaRPr lang="en-US" sz="1250" dirty="0">
                        <a:latin typeface="Red Hat Text" charset="0"/>
                        <a:ea typeface="Red Hat Text" charset="0"/>
                        <a:cs typeface="Red Hat Text" charset="0"/>
                      </a:endParaRPr>
                    </a:p>
                  </a:txBody>
                  <a:tcPr marL="116964" marR="116964" marT="51942" marB="51942"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extLst>
                  <a:ext uri="{0D108BD9-81ED-4DB2-BD59-A6C34878D82A}">
                    <a16:rowId xmlns:a16="http://schemas.microsoft.com/office/drawing/2014/main" val="10003"/>
                  </a:ext>
                </a:extLst>
              </a:tr>
              <a:tr h="315111">
                <a:tc>
                  <a:txBody>
                    <a:bodyPr/>
                    <a:lstStyle/>
                    <a:p>
                      <a:pPr marL="0" indent="0" algn="l">
                        <a:buNone/>
                      </a:pPr>
                      <a:r>
                        <a:rPr lang="en-US" sz="1250" dirty="0">
                          <a:solidFill>
                            <a:srgbClr val="E4E9EB"/>
                          </a:solidFill>
                          <a:latin typeface="Red Hat Text" pitchFamily="34" charset="0"/>
                          <a:ea typeface="Red Hat Text" pitchFamily="34" charset="-122"/>
                          <a:cs typeface="Red Hat Text" pitchFamily="34" charset="-120"/>
                        </a:rPr>
                        <a:t>1</a:t>
                      </a:r>
                      <a:endParaRPr lang="en-US" sz="1250" dirty="0">
                        <a:latin typeface="Red Hat Text" charset="0"/>
                        <a:ea typeface="Red Hat Text" charset="0"/>
                        <a:cs typeface="Red Hat Text" charset="0"/>
                      </a:endParaRPr>
                    </a:p>
                  </a:txBody>
                  <a:tcPr marL="116964" marR="104265" marT="57784" marB="57784"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250" dirty="0">
                          <a:solidFill>
                            <a:srgbClr val="E4E9EB"/>
                          </a:solidFill>
                          <a:latin typeface="Red Hat Text" pitchFamily="34" charset="0"/>
                          <a:ea typeface="Red Hat Text" pitchFamily="34" charset="-122"/>
                          <a:cs typeface="Red Hat Text" pitchFamily="34" charset="-120"/>
                        </a:rPr>
                        <a:t>1</a:t>
                      </a:r>
                      <a:endParaRPr lang="en-US" sz="1250" dirty="0">
                        <a:latin typeface="Red Hat Text" charset="0"/>
                        <a:ea typeface="Red Hat Text" charset="0"/>
                        <a:cs typeface="Red Hat Text" charset="0"/>
                      </a:endParaRPr>
                    </a:p>
                  </a:txBody>
                  <a:tcPr marL="116964" marR="104265" marT="57784" marB="57784"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250" dirty="0">
                          <a:solidFill>
                            <a:srgbClr val="E4E9EB"/>
                          </a:solidFill>
                          <a:latin typeface="Red Hat Text" pitchFamily="34" charset="0"/>
                          <a:ea typeface="Red Hat Text" pitchFamily="34" charset="-122"/>
                          <a:cs typeface="Red Hat Text" pitchFamily="34" charset="-120"/>
                        </a:rPr>
                        <a:t>Equal</a:t>
                      </a:r>
                      <a:endParaRPr lang="en-US" sz="1250" dirty="0">
                        <a:latin typeface="Red Hat Text" charset="0"/>
                        <a:ea typeface="Red Hat Text" charset="0"/>
                        <a:cs typeface="Red Hat Text" charset="0"/>
                      </a:endParaRPr>
                    </a:p>
                  </a:txBody>
                  <a:tcPr marL="116964" marR="104265" marT="57784" marB="57784"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250" dirty="0">
                          <a:solidFill>
                            <a:srgbClr val="E4E9EB"/>
                          </a:solidFill>
                          <a:latin typeface="Red Hat Text" pitchFamily="34" charset="0"/>
                          <a:ea typeface="Red Hat Text" pitchFamily="34" charset="-122"/>
                          <a:cs typeface="Red Hat Text" pitchFamily="34" charset="-120"/>
                        </a:rPr>
                        <a:t>Ai XNOR Bi</a:t>
                      </a:r>
                      <a:endParaRPr lang="en-US" sz="1250" dirty="0">
                        <a:latin typeface="Red Hat Text" charset="0"/>
                        <a:ea typeface="Red Hat Text" charset="0"/>
                        <a:cs typeface="Red Hat Text" charset="0"/>
                      </a:endParaRPr>
                    </a:p>
                  </a:txBody>
                  <a:tcPr marL="116964" marR="116964" marT="57784" marB="57784" anchor="ctr">
                    <a:lnL w="12700" cap="flat" cmpd="sng" algn="ctr">
                      <a:solidFill>
                        <a:srgbClr val="3F474C"/>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6425940" y="1395611"/>
            <a:ext cx="5156170" cy="5208290"/>
          </a:xfrm>
          <a:prstGeom prst="rect">
            <a:avLst/>
          </a:prstGeom>
          <a:solidFill>
            <a:srgbClr val="111A20"/>
          </a:solidFill>
          <a:ln/>
        </p:spPr>
      </p:sp>
      <p:sp>
        <p:nvSpPr>
          <p:cNvPr id="6" name="Text 3"/>
          <p:cNvSpPr/>
          <p:nvPr/>
        </p:nvSpPr>
        <p:spPr>
          <a:xfrm>
            <a:off x="6654534" y="1638399"/>
            <a:ext cx="4927576" cy="134938"/>
          </a:xfrm>
          <a:prstGeom prst="rect">
            <a:avLst/>
          </a:prstGeom>
          <a:noFill/>
          <a:ln/>
        </p:spPr>
        <p:txBody>
          <a:bodyPr wrap="none" lIns="0" tIns="0" rIns="0" bIns="0" rtlCol="0" anchor="t"/>
          <a:lstStyle/>
          <a:p>
            <a:pPr marL="0" indent="0" algn="l">
              <a:lnSpc>
                <a:spcPct val="104000"/>
              </a:lnSpc>
              <a:buNone/>
            </a:pPr>
            <a:r>
              <a:rPr lang="en-US" sz="850" kern="100" spc="67" dirty="0">
                <a:solidFill>
                  <a:srgbClr val="FFFFFF"/>
                </a:solidFill>
                <a:latin typeface="Red Hat Mono" pitchFamily="34" charset="0"/>
                <a:ea typeface="Red Hat Mono" pitchFamily="34" charset="-122"/>
                <a:cs typeface="Red Hat Mono" pitchFamily="34" charset="-120"/>
              </a:rPr>
              <a:t>THREE FLAGS</a:t>
            </a:r>
            <a:endParaRPr lang="en-US" sz="850" dirty="0"/>
          </a:p>
        </p:txBody>
      </p:sp>
      <p:sp>
        <p:nvSpPr>
          <p:cNvPr id="7" name="Text 4"/>
          <p:cNvSpPr/>
          <p:nvPr/>
        </p:nvSpPr>
        <p:spPr>
          <a:xfrm>
            <a:off x="6654534" y="1814860"/>
            <a:ext cx="4927576" cy="232271"/>
          </a:xfrm>
          <a:prstGeom prst="rect">
            <a:avLst/>
          </a:prstGeom>
          <a:noFill/>
          <a:ln/>
        </p:spPr>
        <p:txBody>
          <a:bodyPr wrap="none" lIns="0" tIns="0" rIns="0" bIns="0" rtlCol="0" anchor="t"/>
          <a:lstStyle/>
          <a:p>
            <a:pPr marL="0" indent="0" algn="l">
              <a:lnSpc>
                <a:spcPct val="98000"/>
              </a:lnSpc>
              <a:buNone/>
            </a:pPr>
            <a:r>
              <a:rPr lang="en-US" sz="1550" b="1" dirty="0">
                <a:solidFill>
                  <a:srgbClr val="FFFFFF"/>
                </a:solidFill>
                <a:latin typeface="Red Hat Text Bold" pitchFamily="34" charset="0"/>
                <a:ea typeface="Red Hat Text Bold" pitchFamily="34" charset="-122"/>
                <a:cs typeface="Red Hat Text Bold" pitchFamily="34" charset="-120"/>
              </a:rPr>
              <a:t>Greater</a:t>
            </a:r>
            <a:endParaRPr lang="en-US" sz="1550" dirty="0"/>
          </a:p>
        </p:txBody>
      </p:sp>
      <p:pic>
        <p:nvPicPr>
          <p:cNvPr id="8" name="Image 0" descr="preencoded.png"/>
          <p:cNvPicPr>
            <a:picLocks noChangeAspect="1"/>
          </p:cNvPicPr>
          <p:nvPr/>
        </p:nvPicPr>
        <p:blipFill>
          <a:blip r:embed="rId3"/>
          <a:stretch>
            <a:fillRect/>
          </a:stretch>
        </p:blipFill>
        <p:spPr>
          <a:xfrm>
            <a:off x="6654534" y="2090241"/>
            <a:ext cx="4698882" cy="272653"/>
          </a:xfrm>
          <a:prstGeom prst="rect">
            <a:avLst/>
          </a:prstGeom>
        </p:spPr>
      </p:pic>
      <p:sp>
        <p:nvSpPr>
          <p:cNvPr id="9" name="Text 5"/>
          <p:cNvSpPr/>
          <p:nvPr/>
        </p:nvSpPr>
        <p:spPr>
          <a:xfrm>
            <a:off x="6654534" y="2463652"/>
            <a:ext cx="4927576" cy="232271"/>
          </a:xfrm>
          <a:prstGeom prst="rect">
            <a:avLst/>
          </a:prstGeom>
          <a:noFill/>
          <a:ln/>
        </p:spPr>
        <p:txBody>
          <a:bodyPr wrap="none" lIns="0" tIns="0" rIns="0" bIns="0" rtlCol="0" anchor="t"/>
          <a:lstStyle/>
          <a:p>
            <a:pPr marL="0" indent="0" algn="l">
              <a:lnSpc>
                <a:spcPct val="98000"/>
              </a:lnSpc>
              <a:buNone/>
            </a:pPr>
            <a:r>
              <a:rPr lang="en-US" sz="1550" b="1" dirty="0">
                <a:solidFill>
                  <a:srgbClr val="FFFFFF"/>
                </a:solidFill>
                <a:latin typeface="Red Hat Text Bold" pitchFamily="34" charset="0"/>
                <a:ea typeface="Red Hat Text Bold" pitchFamily="34" charset="-122"/>
                <a:cs typeface="Red Hat Text Bold" pitchFamily="34" charset="-120"/>
              </a:rPr>
              <a:t>Equal</a:t>
            </a:r>
            <a:endParaRPr lang="en-US" sz="1550" dirty="0"/>
          </a:p>
        </p:txBody>
      </p:sp>
      <p:pic>
        <p:nvPicPr>
          <p:cNvPr id="10" name="Image 1" descr="preencoded.png"/>
          <p:cNvPicPr>
            <a:picLocks noChangeAspect="1"/>
          </p:cNvPicPr>
          <p:nvPr/>
        </p:nvPicPr>
        <p:blipFill>
          <a:blip r:embed="rId4"/>
          <a:stretch>
            <a:fillRect/>
          </a:stretch>
        </p:blipFill>
        <p:spPr>
          <a:xfrm>
            <a:off x="6654534" y="2740323"/>
            <a:ext cx="4698882" cy="272653"/>
          </a:xfrm>
          <a:prstGeom prst="rect">
            <a:avLst/>
          </a:prstGeom>
        </p:spPr>
      </p:pic>
      <p:sp>
        <p:nvSpPr>
          <p:cNvPr id="11" name="Text 6"/>
          <p:cNvSpPr/>
          <p:nvPr/>
        </p:nvSpPr>
        <p:spPr>
          <a:xfrm>
            <a:off x="6654534" y="3115023"/>
            <a:ext cx="4927576" cy="232271"/>
          </a:xfrm>
          <a:prstGeom prst="rect">
            <a:avLst/>
          </a:prstGeom>
          <a:noFill/>
          <a:ln/>
        </p:spPr>
        <p:txBody>
          <a:bodyPr wrap="none" lIns="0" tIns="0" rIns="0" bIns="0" rtlCol="0" anchor="t"/>
          <a:lstStyle/>
          <a:p>
            <a:pPr marL="0" indent="0" algn="l">
              <a:lnSpc>
                <a:spcPct val="98000"/>
              </a:lnSpc>
              <a:buNone/>
            </a:pPr>
            <a:r>
              <a:rPr lang="en-US" sz="1550" b="1" dirty="0">
                <a:solidFill>
                  <a:srgbClr val="FFFFFF"/>
                </a:solidFill>
                <a:latin typeface="Red Hat Text Bold" pitchFamily="34" charset="0"/>
                <a:ea typeface="Red Hat Text Bold" pitchFamily="34" charset="-122"/>
                <a:cs typeface="Red Hat Text Bold" pitchFamily="34" charset="-120"/>
              </a:rPr>
              <a:t>Less</a:t>
            </a:r>
            <a:endParaRPr lang="en-US" sz="1550" dirty="0"/>
          </a:p>
        </p:txBody>
      </p:sp>
      <p:pic>
        <p:nvPicPr>
          <p:cNvPr id="12" name="Image 2" descr="preencoded.png"/>
          <p:cNvPicPr>
            <a:picLocks noChangeAspect="1"/>
          </p:cNvPicPr>
          <p:nvPr/>
        </p:nvPicPr>
        <p:blipFill>
          <a:blip r:embed="rId5"/>
          <a:stretch>
            <a:fillRect/>
          </a:stretch>
        </p:blipFill>
        <p:spPr>
          <a:xfrm>
            <a:off x="6654534" y="3390404"/>
            <a:ext cx="4698982" cy="267395"/>
          </a:xfrm>
          <a:prstGeom prst="rect">
            <a:avLst/>
          </a:prstGeom>
        </p:spPr>
      </p:pic>
      <p:pic>
        <p:nvPicPr>
          <p:cNvPr id="13" name="Image 3" descr="preencoded.png"/>
          <p:cNvPicPr>
            <a:picLocks noChangeAspect="1"/>
          </p:cNvPicPr>
          <p:nvPr/>
        </p:nvPicPr>
        <p:blipFill>
          <a:blip r:embed="rId6"/>
          <a:stretch>
            <a:fillRect/>
          </a:stretch>
        </p:blipFill>
        <p:spPr>
          <a:xfrm>
            <a:off x="6654534" y="3716139"/>
            <a:ext cx="4698982" cy="2663428"/>
          </a:xfrm>
          <a:prstGeom prst="rect">
            <a:avLst/>
          </a:prstGeom>
        </p:spPr>
      </p:pic>
      <p:sp>
        <p:nvSpPr>
          <p:cNvPr id="14" name="Text 7"/>
          <p:cNvSpPr/>
          <p:nvPr/>
        </p:nvSpPr>
        <p:spPr>
          <a:xfrm>
            <a:off x="609585" y="6694944"/>
            <a:ext cx="11582110" cy="148530"/>
          </a:xfrm>
          <a:prstGeom prst="rect">
            <a:avLst/>
          </a:prstGeom>
          <a:noFill/>
          <a:ln/>
        </p:spPr>
        <p:txBody>
          <a:bodyPr wrap="none" lIns="0" tIns="0" rIns="0" bIns="0" rtlCol="0" anchor="t"/>
          <a:lstStyle/>
          <a:p>
            <a:pPr marL="0" indent="0" algn="l">
              <a:lnSpc>
                <a:spcPct val="108000"/>
              </a:lnSpc>
              <a:buNone/>
            </a:pPr>
            <a:r>
              <a:rPr lang="en-US" sz="900" kern="100" spc="5" dirty="0">
                <a:solidFill>
                  <a:srgbClr val="A9B6BB"/>
                </a:solidFill>
                <a:latin typeface="Red Hat Text" pitchFamily="34" charset="0"/>
                <a:ea typeface="Red Hat Text" pitchFamily="34" charset="-122"/>
                <a:cs typeface="Red Hat Text" pitchFamily="34" charset="-120"/>
              </a:rPr>
              <a:t>Every bit pair produces local evidence. Higher-order pairs receive priority over lower-order pairs.</a:t>
            </a:r>
            <a:endParaRPr lang="en-US" sz="900" dirty="0"/>
          </a:p>
        </p:txBody>
      </p:sp>
      <p:pic>
        <p:nvPicPr>
          <p:cNvPr id="15" name="Image 4" descr="preencoded.png"/>
          <p:cNvPicPr>
            <a:picLocks noChangeAspect="1"/>
          </p:cNvPicPr>
          <p:nvPr/>
        </p:nvPicPr>
        <p:blipFill>
          <a:blip r:embed="rId7"/>
          <a:stretch>
            <a:fillRect/>
          </a:stretch>
        </p:blipFill>
        <p:spPr>
          <a:xfrm>
            <a:off x="11077000" y="6559252"/>
            <a:ext cx="1071833" cy="25598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901" y="6559153"/>
            <a:ext cx="1071833" cy="255984"/>
          </a:xfrm>
          <a:prstGeom prst="rect">
            <a:avLst/>
          </a:prstGeom>
        </p:spPr>
      </p:pic>
      <p:sp>
        <p:nvSpPr>
          <p:cNvPr id="3" name="Shape 0"/>
          <p:cNvSpPr/>
          <p:nvPr/>
        </p:nvSpPr>
        <p:spPr>
          <a:xfrm>
            <a:off x="9230685" y="2802037"/>
            <a:ext cx="2351128" cy="3918942"/>
          </a:xfrm>
          <a:prstGeom prst="roundRect">
            <a:avLst>
              <a:gd name="adj" fmla="val 1802"/>
            </a:avLst>
          </a:prstGeom>
          <a:solidFill>
            <a:srgbClr val="3A7896"/>
          </a:solidFill>
          <a:ln/>
        </p:spPr>
      </p:sp>
      <p:sp>
        <p:nvSpPr>
          <p:cNvPr id="4" name="Text 1"/>
          <p:cNvSpPr/>
          <p:nvPr/>
        </p:nvSpPr>
        <p:spPr>
          <a:xfrm>
            <a:off x="9289520" y="3757612"/>
            <a:ext cx="2233656" cy="1944886"/>
          </a:xfrm>
          <a:prstGeom prst="rect">
            <a:avLst/>
          </a:prstGeom>
          <a:noFill/>
          <a:ln/>
        </p:spPr>
        <p:txBody>
          <a:bodyPr wrap="square" lIns="0" tIns="0" rIns="0" bIns="0" rtlCol="0" anchor="t">
            <a:normAutofit/>
          </a:bodyPr>
          <a:lstStyle/>
          <a:p>
            <a:pPr marL="0" indent="0" algn="ctr">
              <a:lnSpc>
                <a:spcPct val="115000"/>
              </a:lnSpc>
              <a:buNone/>
            </a:pPr>
            <a:r>
              <a:rPr lang="en-US" sz="1850" b="1" dirty="0">
                <a:solidFill>
                  <a:srgbClr val="FFFFFF"/>
                </a:solidFill>
                <a:latin typeface="Red Hat Text Bold" pitchFamily="34" charset="0"/>
                <a:ea typeface="Red Hat Text Bold" pitchFamily="34" charset="-122"/>
                <a:cs typeface="Red Hat Text Bold" pitchFamily="34" charset="-120"/>
              </a:rPr>
              <a:t>Priority cascade</a:t>
            </a:r>
            <a:endParaRPr lang="en-US" sz="1850" dirty="0"/>
          </a:p>
          <a:p>
            <a:pPr marL="0" indent="0" algn="ctr">
              <a:lnSpc>
                <a:spcPct val="115000"/>
              </a:lnSpc>
              <a:buNone/>
            </a:pPr>
            <a:r>
              <a:rPr lang="en-US" sz="1850" dirty="0">
                <a:solidFill>
                  <a:srgbClr val="FFFFFF"/>
                </a:solidFill>
                <a:latin typeface="Red Hat Text" pitchFamily="34" charset="0"/>
                <a:ea typeface="Red Hat Text" pitchFamily="34" charset="-122"/>
                <a:cs typeface="Red Hat Text" pitchFamily="34" charset="-120"/>
              </a:rPr>
              <a:t>Greater and less flags from each pair feed A&gt;B and A&lt;B, most significant bit first.</a:t>
            </a:r>
            <a:endParaRPr lang="en-US" sz="1850" dirty="0"/>
          </a:p>
        </p:txBody>
      </p:sp>
      <p:sp>
        <p:nvSpPr>
          <p:cNvPr id="5" name="Text 2"/>
          <p:cNvSpPr/>
          <p:nvPr/>
        </p:nvSpPr>
        <p:spPr>
          <a:xfrm>
            <a:off x="609585" y="630138"/>
            <a:ext cx="11582110" cy="206375"/>
          </a:xfrm>
          <a:prstGeom prst="rect">
            <a:avLst/>
          </a:prstGeom>
          <a:noFill/>
          <a:ln/>
        </p:spPr>
        <p:txBody>
          <a:bodyPr wrap="none" lIns="0" tIns="0" rIns="0" bIns="0" rtlCol="0" anchor="t"/>
          <a:lstStyle/>
          <a:p>
            <a:pPr marL="0" indent="0" algn="l">
              <a:lnSpc>
                <a:spcPct val="104000"/>
              </a:lnSpc>
              <a:buNone/>
            </a:pPr>
            <a:r>
              <a:rPr lang="en-US" sz="1300" kern="100" spc="104" dirty="0">
                <a:solidFill>
                  <a:srgbClr val="D3E6EE"/>
                </a:solidFill>
                <a:latin typeface="Red Hat Mono" pitchFamily="34" charset="0"/>
                <a:ea typeface="Red Hat Mono" pitchFamily="34" charset="-122"/>
                <a:cs typeface="Red Hat Mono" pitchFamily="34" charset="-120"/>
              </a:rPr>
              <a:t>EQUALITY PATH</a:t>
            </a:r>
            <a:endParaRPr lang="en-US" sz="1300" dirty="0"/>
          </a:p>
        </p:txBody>
      </p:sp>
      <p:sp>
        <p:nvSpPr>
          <p:cNvPr id="6" name="Text 3"/>
          <p:cNvSpPr/>
          <p:nvPr/>
        </p:nvSpPr>
        <p:spPr>
          <a:xfrm>
            <a:off x="609585" y="922385"/>
            <a:ext cx="10915377" cy="493713"/>
          </a:xfrm>
          <a:prstGeom prst="rect">
            <a:avLst/>
          </a:prstGeom>
          <a:noFill/>
          <a:ln/>
        </p:spPr>
        <p:txBody>
          <a:bodyPr wrap="none" lIns="0" tIns="0" rIns="0" bIns="0" rtlCol="0" anchor="t"/>
          <a:lstStyle/>
          <a:p>
            <a:pPr marL="0" indent="0" algn="l">
              <a:lnSpc>
                <a:spcPct val="90000"/>
              </a:lnSpc>
              <a:buNone/>
            </a:pPr>
            <a:r>
              <a:rPr lang="en-US" sz="3600" b="1" kern="100" spc="-36" dirty="0">
                <a:solidFill>
                  <a:srgbClr val="F4B23E"/>
                </a:solidFill>
                <a:latin typeface="Playfair Display Bold" pitchFamily="34" charset="0"/>
                <a:ea typeface="Playfair Display Bold" pitchFamily="34" charset="-122"/>
                <a:cs typeface="Playfair Display Bold" pitchFamily="34" charset="-120"/>
              </a:rPr>
              <a:t>Equality checks all four bit pairs</a:t>
            </a:r>
            <a:endParaRPr lang="en-US" sz="3600" dirty="0"/>
          </a:p>
        </p:txBody>
      </p:sp>
      <p:sp>
        <p:nvSpPr>
          <p:cNvPr id="7" name="Text 4"/>
          <p:cNvSpPr/>
          <p:nvPr/>
        </p:nvSpPr>
        <p:spPr>
          <a:xfrm>
            <a:off x="609585" y="1844770"/>
            <a:ext cx="11524962" cy="332978"/>
          </a:xfrm>
          <a:prstGeom prst="rect">
            <a:avLst/>
          </a:prstGeom>
          <a:noFill/>
          <a:ln/>
        </p:spPr>
        <p:txBody>
          <a:bodyPr wrap="none" lIns="0" tIns="0" rIns="0" bIns="0" rtlCol="0" anchor="t"/>
          <a:lstStyle/>
          <a:p>
            <a:pPr marL="0" indent="0" algn="l">
              <a:lnSpc>
                <a:spcPct val="115000"/>
              </a:lnSpc>
              <a:buNone/>
            </a:pPr>
            <a:r>
              <a:rPr lang="en-US" sz="1900" dirty="0">
                <a:solidFill>
                  <a:srgbClr val="E4E9EB"/>
                </a:solidFill>
                <a:latin typeface="Red Hat Text" pitchFamily="34" charset="0"/>
                <a:ea typeface="Red Hat Text" pitchFamily="34" charset="-122"/>
                <a:cs typeface="Red Hat Text" pitchFamily="34" charset="-120"/>
              </a:rPr>
              <a:t>Equality is high only when every corresponding pair matches.</a:t>
            </a:r>
            <a:endParaRPr lang="en-US" sz="1900" dirty="0"/>
          </a:p>
        </p:txBody>
      </p:sp>
      <p:pic>
        <p:nvPicPr>
          <p:cNvPr id="8" name="Image 1" descr="preencoded.png"/>
          <p:cNvPicPr>
            <a:picLocks noChangeAspect="1"/>
          </p:cNvPicPr>
          <p:nvPr/>
        </p:nvPicPr>
        <p:blipFill>
          <a:blip r:embed="rId4"/>
          <a:stretch>
            <a:fillRect/>
          </a:stretch>
        </p:blipFill>
        <p:spPr>
          <a:xfrm>
            <a:off x="3098722" y="2445246"/>
            <a:ext cx="2336742" cy="190996"/>
          </a:xfrm>
          <a:prstGeom prst="rect">
            <a:avLst/>
          </a:prstGeom>
        </p:spPr>
      </p:pic>
      <p:sp>
        <p:nvSpPr>
          <p:cNvPr id="9" name="Shape 5"/>
          <p:cNvSpPr/>
          <p:nvPr/>
        </p:nvSpPr>
        <p:spPr>
          <a:xfrm>
            <a:off x="870722" y="2932609"/>
            <a:ext cx="1306083" cy="522387"/>
          </a:xfrm>
          <a:prstGeom prst="roundRect">
            <a:avLst>
              <a:gd name="adj" fmla="val 8110"/>
            </a:avLst>
          </a:prstGeom>
          <a:solidFill>
            <a:srgbClr val="111A20"/>
          </a:solidFill>
          <a:ln/>
        </p:spPr>
      </p:sp>
      <p:sp>
        <p:nvSpPr>
          <p:cNvPr id="10" name="Text 6"/>
          <p:cNvSpPr/>
          <p:nvPr/>
        </p:nvSpPr>
        <p:spPr>
          <a:xfrm>
            <a:off x="624765" y="3031728"/>
            <a:ext cx="1798196" cy="324148"/>
          </a:xfrm>
          <a:prstGeom prst="rect">
            <a:avLst/>
          </a:prstGeom>
          <a:noFill/>
          <a:ln/>
        </p:spPr>
        <p:txBody>
          <a:bodyPr wrap="none" lIns="0" tIns="0" rIns="0" bIns="0" rtlCol="0" anchor="t"/>
          <a:lstStyle/>
          <a:p>
            <a:pPr marL="0" indent="0" algn="ctr">
              <a:lnSpc>
                <a:spcPct val="115000"/>
              </a:lnSpc>
              <a:buNone/>
            </a:pPr>
            <a:r>
              <a:rPr lang="en-US" sz="1850" b="1" dirty="0">
                <a:solidFill>
                  <a:srgbClr val="FFFFFF"/>
                </a:solidFill>
                <a:latin typeface="Red Hat Text Bold" pitchFamily="34" charset="0"/>
                <a:ea typeface="Red Hat Text Bold" pitchFamily="34" charset="-122"/>
                <a:cs typeface="Red Hat Text Bold" pitchFamily="34" charset="-120"/>
              </a:rPr>
              <a:t>A3 · B3</a:t>
            </a:r>
            <a:endParaRPr lang="en-US" sz="1850" dirty="0"/>
          </a:p>
        </p:txBody>
      </p:sp>
      <p:sp>
        <p:nvSpPr>
          <p:cNvPr id="11" name="Shape 7"/>
          <p:cNvSpPr/>
          <p:nvPr/>
        </p:nvSpPr>
        <p:spPr>
          <a:xfrm rot="57000">
            <a:off x="2176805" y="3187700"/>
            <a:ext cx="783809" cy="25400"/>
          </a:xfrm>
          <a:prstGeom prst="rect">
            <a:avLst/>
          </a:prstGeom>
          <a:solidFill>
            <a:srgbClr val="3A7896"/>
          </a:solidFill>
          <a:ln/>
        </p:spPr>
      </p:sp>
      <p:sp>
        <p:nvSpPr>
          <p:cNvPr id="12" name="Shape 8"/>
          <p:cNvSpPr/>
          <p:nvPr/>
        </p:nvSpPr>
        <p:spPr>
          <a:xfrm>
            <a:off x="870722" y="3716437"/>
            <a:ext cx="1306083" cy="522387"/>
          </a:xfrm>
          <a:prstGeom prst="roundRect">
            <a:avLst>
              <a:gd name="adj" fmla="val 8110"/>
            </a:avLst>
          </a:prstGeom>
          <a:solidFill>
            <a:srgbClr val="111A20"/>
          </a:solidFill>
          <a:ln/>
        </p:spPr>
      </p:sp>
      <p:sp>
        <p:nvSpPr>
          <p:cNvPr id="13" name="Text 9"/>
          <p:cNvSpPr/>
          <p:nvPr/>
        </p:nvSpPr>
        <p:spPr>
          <a:xfrm>
            <a:off x="624765" y="3815556"/>
            <a:ext cx="1798196" cy="324148"/>
          </a:xfrm>
          <a:prstGeom prst="rect">
            <a:avLst/>
          </a:prstGeom>
          <a:noFill/>
          <a:ln/>
        </p:spPr>
        <p:txBody>
          <a:bodyPr wrap="none" lIns="0" tIns="0" rIns="0" bIns="0" rtlCol="0" anchor="t"/>
          <a:lstStyle/>
          <a:p>
            <a:pPr marL="0" indent="0" algn="ctr">
              <a:lnSpc>
                <a:spcPct val="115000"/>
              </a:lnSpc>
              <a:buNone/>
            </a:pPr>
            <a:r>
              <a:rPr lang="en-US" sz="1850" b="1" dirty="0">
                <a:solidFill>
                  <a:srgbClr val="FFFFFF"/>
                </a:solidFill>
                <a:latin typeface="Red Hat Text Bold" pitchFamily="34" charset="0"/>
                <a:ea typeface="Red Hat Text Bold" pitchFamily="34" charset="-122"/>
                <a:cs typeface="Red Hat Text Bold" pitchFamily="34" charset="-120"/>
              </a:rPr>
              <a:t>A2 · B2</a:t>
            </a:r>
            <a:endParaRPr lang="en-US" sz="1850" dirty="0"/>
          </a:p>
        </p:txBody>
      </p:sp>
      <p:sp>
        <p:nvSpPr>
          <p:cNvPr id="14" name="Shape 10"/>
          <p:cNvSpPr/>
          <p:nvPr/>
        </p:nvSpPr>
        <p:spPr>
          <a:xfrm rot="57000">
            <a:off x="2176805" y="3971528"/>
            <a:ext cx="783809" cy="25400"/>
          </a:xfrm>
          <a:prstGeom prst="rect">
            <a:avLst/>
          </a:prstGeom>
          <a:solidFill>
            <a:srgbClr val="3A7896"/>
          </a:solidFill>
          <a:ln/>
        </p:spPr>
      </p:sp>
      <p:sp>
        <p:nvSpPr>
          <p:cNvPr id="15" name="Shape 11"/>
          <p:cNvSpPr/>
          <p:nvPr/>
        </p:nvSpPr>
        <p:spPr>
          <a:xfrm>
            <a:off x="870722" y="4500166"/>
            <a:ext cx="1306083" cy="522387"/>
          </a:xfrm>
          <a:prstGeom prst="roundRect">
            <a:avLst>
              <a:gd name="adj" fmla="val 8110"/>
            </a:avLst>
          </a:prstGeom>
          <a:solidFill>
            <a:srgbClr val="111A20"/>
          </a:solidFill>
          <a:ln/>
        </p:spPr>
      </p:sp>
      <p:sp>
        <p:nvSpPr>
          <p:cNvPr id="16" name="Text 12"/>
          <p:cNvSpPr/>
          <p:nvPr/>
        </p:nvSpPr>
        <p:spPr>
          <a:xfrm>
            <a:off x="624765" y="4599285"/>
            <a:ext cx="1798196" cy="324148"/>
          </a:xfrm>
          <a:prstGeom prst="rect">
            <a:avLst/>
          </a:prstGeom>
          <a:noFill/>
          <a:ln/>
        </p:spPr>
        <p:txBody>
          <a:bodyPr wrap="none" lIns="0" tIns="0" rIns="0" bIns="0" rtlCol="0" anchor="t"/>
          <a:lstStyle/>
          <a:p>
            <a:pPr marL="0" indent="0" algn="ctr">
              <a:lnSpc>
                <a:spcPct val="115000"/>
              </a:lnSpc>
              <a:buNone/>
            </a:pPr>
            <a:r>
              <a:rPr lang="en-US" sz="1850" b="1" dirty="0">
                <a:solidFill>
                  <a:srgbClr val="FFFFFF"/>
                </a:solidFill>
                <a:latin typeface="Red Hat Text Bold" pitchFamily="34" charset="0"/>
                <a:ea typeface="Red Hat Text Bold" pitchFamily="34" charset="-122"/>
                <a:cs typeface="Red Hat Text Bold" pitchFamily="34" charset="-120"/>
              </a:rPr>
              <a:t>A1 · B1</a:t>
            </a:r>
            <a:endParaRPr lang="en-US" sz="1850" dirty="0"/>
          </a:p>
        </p:txBody>
      </p:sp>
      <p:sp>
        <p:nvSpPr>
          <p:cNvPr id="17" name="Shape 13"/>
          <p:cNvSpPr/>
          <p:nvPr/>
        </p:nvSpPr>
        <p:spPr>
          <a:xfrm rot="57000">
            <a:off x="2176805" y="4755257"/>
            <a:ext cx="783809" cy="25400"/>
          </a:xfrm>
          <a:prstGeom prst="rect">
            <a:avLst/>
          </a:prstGeom>
          <a:solidFill>
            <a:srgbClr val="3A7896"/>
          </a:solidFill>
          <a:ln/>
        </p:spPr>
      </p:sp>
      <p:sp>
        <p:nvSpPr>
          <p:cNvPr id="18" name="Shape 14"/>
          <p:cNvSpPr/>
          <p:nvPr/>
        </p:nvSpPr>
        <p:spPr>
          <a:xfrm>
            <a:off x="870722" y="5283994"/>
            <a:ext cx="1306083" cy="522387"/>
          </a:xfrm>
          <a:prstGeom prst="roundRect">
            <a:avLst>
              <a:gd name="adj" fmla="val 8110"/>
            </a:avLst>
          </a:prstGeom>
          <a:solidFill>
            <a:srgbClr val="111A20"/>
          </a:solidFill>
          <a:ln/>
        </p:spPr>
      </p:sp>
      <p:sp>
        <p:nvSpPr>
          <p:cNvPr id="19" name="Text 15"/>
          <p:cNvSpPr/>
          <p:nvPr/>
        </p:nvSpPr>
        <p:spPr>
          <a:xfrm>
            <a:off x="624765" y="5383014"/>
            <a:ext cx="1798196" cy="324148"/>
          </a:xfrm>
          <a:prstGeom prst="rect">
            <a:avLst/>
          </a:prstGeom>
          <a:noFill/>
          <a:ln/>
        </p:spPr>
        <p:txBody>
          <a:bodyPr wrap="none" lIns="0" tIns="0" rIns="0" bIns="0" rtlCol="0" anchor="t"/>
          <a:lstStyle/>
          <a:p>
            <a:pPr marL="0" indent="0" algn="ctr">
              <a:lnSpc>
                <a:spcPct val="115000"/>
              </a:lnSpc>
              <a:buNone/>
            </a:pPr>
            <a:r>
              <a:rPr lang="en-US" sz="1850" b="1" dirty="0">
                <a:solidFill>
                  <a:srgbClr val="FFFFFF"/>
                </a:solidFill>
                <a:latin typeface="Red Hat Text Bold" pitchFamily="34" charset="0"/>
                <a:ea typeface="Red Hat Text Bold" pitchFamily="34" charset="-122"/>
                <a:cs typeface="Red Hat Text Bold" pitchFamily="34" charset="-120"/>
              </a:rPr>
              <a:t>A0 · B0</a:t>
            </a:r>
            <a:endParaRPr lang="en-US" sz="1850" dirty="0"/>
          </a:p>
        </p:txBody>
      </p:sp>
      <p:sp>
        <p:nvSpPr>
          <p:cNvPr id="20" name="Shape 16"/>
          <p:cNvSpPr/>
          <p:nvPr/>
        </p:nvSpPr>
        <p:spPr>
          <a:xfrm rot="57000">
            <a:off x="2176805" y="5539085"/>
            <a:ext cx="783809" cy="25400"/>
          </a:xfrm>
          <a:prstGeom prst="rect">
            <a:avLst/>
          </a:prstGeom>
          <a:solidFill>
            <a:srgbClr val="3A7896"/>
          </a:solidFill>
          <a:ln/>
        </p:spPr>
      </p:sp>
      <p:sp>
        <p:nvSpPr>
          <p:cNvPr id="21" name="Shape 17"/>
          <p:cNvSpPr/>
          <p:nvPr/>
        </p:nvSpPr>
        <p:spPr>
          <a:xfrm>
            <a:off x="2960713" y="2932609"/>
            <a:ext cx="1306083" cy="522387"/>
          </a:xfrm>
          <a:prstGeom prst="roundRect">
            <a:avLst>
              <a:gd name="adj" fmla="val 8110"/>
            </a:avLst>
          </a:prstGeom>
          <a:solidFill>
            <a:srgbClr val="111A20"/>
          </a:solidFill>
          <a:ln/>
        </p:spPr>
      </p:sp>
      <p:sp>
        <p:nvSpPr>
          <p:cNvPr id="22" name="Text 18"/>
          <p:cNvSpPr/>
          <p:nvPr/>
        </p:nvSpPr>
        <p:spPr>
          <a:xfrm>
            <a:off x="3019548" y="2838946"/>
            <a:ext cx="1188611" cy="648295"/>
          </a:xfrm>
          <a:prstGeom prst="rect">
            <a:avLst/>
          </a:prstGeom>
          <a:noFill/>
          <a:ln/>
        </p:spPr>
        <p:txBody>
          <a:bodyPr wrap="square" lIns="0" tIns="0" rIns="0" bIns="0" rtlCol="0" anchor="t">
            <a:normAutofit/>
          </a:bodyPr>
          <a:lstStyle/>
          <a:p>
            <a:pPr marL="0" indent="0" algn="ctr">
              <a:lnSpc>
                <a:spcPct val="115000"/>
              </a:lnSpc>
              <a:buNone/>
            </a:pPr>
            <a:r>
              <a:rPr lang="en-US" sz="1850" b="1" dirty="0">
                <a:solidFill>
                  <a:srgbClr val="FFFFFF"/>
                </a:solidFill>
                <a:latin typeface="Red Hat Text Bold" pitchFamily="34" charset="0"/>
                <a:ea typeface="Red Hat Text Bold" pitchFamily="34" charset="-122"/>
                <a:cs typeface="Red Hat Text Bold" pitchFamily="34" charset="-120"/>
              </a:rPr>
              <a:t>XNOR</a:t>
            </a:r>
            <a:r>
              <a:rPr lang="en-US" sz="1850" dirty="0">
                <a:solidFill>
                  <a:srgbClr val="FFFFFF"/>
                </a:solidFill>
                <a:latin typeface="Red Hat Text" pitchFamily="34" charset="0"/>
                <a:ea typeface="Red Hat Text" pitchFamily="34" charset="-122"/>
                <a:cs typeface="Red Hat Text" pitchFamily="34" charset="-120"/>
              </a:rPr>
              <a:t> → E3</a:t>
            </a:r>
            <a:endParaRPr lang="en-US" sz="1850" dirty="0"/>
          </a:p>
        </p:txBody>
      </p:sp>
      <p:sp>
        <p:nvSpPr>
          <p:cNvPr id="23" name="Shape 19"/>
          <p:cNvSpPr/>
          <p:nvPr/>
        </p:nvSpPr>
        <p:spPr>
          <a:xfrm>
            <a:off x="2960713" y="3716437"/>
            <a:ext cx="1306083" cy="522387"/>
          </a:xfrm>
          <a:prstGeom prst="roundRect">
            <a:avLst>
              <a:gd name="adj" fmla="val 8110"/>
            </a:avLst>
          </a:prstGeom>
          <a:solidFill>
            <a:srgbClr val="111A20"/>
          </a:solidFill>
          <a:ln/>
        </p:spPr>
      </p:sp>
      <p:sp>
        <p:nvSpPr>
          <p:cNvPr id="24" name="Text 20"/>
          <p:cNvSpPr/>
          <p:nvPr/>
        </p:nvSpPr>
        <p:spPr>
          <a:xfrm>
            <a:off x="3019548" y="3622774"/>
            <a:ext cx="1188611" cy="648295"/>
          </a:xfrm>
          <a:prstGeom prst="rect">
            <a:avLst/>
          </a:prstGeom>
          <a:noFill/>
          <a:ln/>
        </p:spPr>
        <p:txBody>
          <a:bodyPr wrap="square" lIns="0" tIns="0" rIns="0" bIns="0" rtlCol="0" anchor="t">
            <a:normAutofit/>
          </a:bodyPr>
          <a:lstStyle/>
          <a:p>
            <a:pPr marL="0" indent="0" algn="ctr">
              <a:lnSpc>
                <a:spcPct val="115000"/>
              </a:lnSpc>
              <a:buNone/>
            </a:pPr>
            <a:r>
              <a:rPr lang="en-US" sz="1850" b="1" dirty="0">
                <a:solidFill>
                  <a:srgbClr val="FFFFFF"/>
                </a:solidFill>
                <a:latin typeface="Red Hat Text Bold" pitchFamily="34" charset="0"/>
                <a:ea typeface="Red Hat Text Bold" pitchFamily="34" charset="-122"/>
                <a:cs typeface="Red Hat Text Bold" pitchFamily="34" charset="-120"/>
              </a:rPr>
              <a:t>XNOR</a:t>
            </a:r>
            <a:r>
              <a:rPr lang="en-US" sz="1850" dirty="0">
                <a:solidFill>
                  <a:srgbClr val="FFFFFF"/>
                </a:solidFill>
                <a:latin typeface="Red Hat Text" pitchFamily="34" charset="0"/>
                <a:ea typeface="Red Hat Text" pitchFamily="34" charset="-122"/>
                <a:cs typeface="Red Hat Text" pitchFamily="34" charset="-120"/>
              </a:rPr>
              <a:t> → E2</a:t>
            </a:r>
            <a:endParaRPr lang="en-US" sz="1850" dirty="0"/>
          </a:p>
        </p:txBody>
      </p:sp>
      <p:sp>
        <p:nvSpPr>
          <p:cNvPr id="25" name="Shape 21"/>
          <p:cNvSpPr/>
          <p:nvPr/>
        </p:nvSpPr>
        <p:spPr>
          <a:xfrm>
            <a:off x="2960713" y="4500166"/>
            <a:ext cx="1306083" cy="522387"/>
          </a:xfrm>
          <a:prstGeom prst="roundRect">
            <a:avLst>
              <a:gd name="adj" fmla="val 8110"/>
            </a:avLst>
          </a:prstGeom>
          <a:solidFill>
            <a:srgbClr val="111A20"/>
          </a:solidFill>
          <a:ln/>
        </p:spPr>
      </p:sp>
      <p:sp>
        <p:nvSpPr>
          <p:cNvPr id="26" name="Text 22"/>
          <p:cNvSpPr/>
          <p:nvPr/>
        </p:nvSpPr>
        <p:spPr>
          <a:xfrm>
            <a:off x="3019548" y="4406602"/>
            <a:ext cx="1188611" cy="648295"/>
          </a:xfrm>
          <a:prstGeom prst="rect">
            <a:avLst/>
          </a:prstGeom>
          <a:noFill/>
          <a:ln/>
        </p:spPr>
        <p:txBody>
          <a:bodyPr wrap="square" lIns="0" tIns="0" rIns="0" bIns="0" rtlCol="0" anchor="t">
            <a:normAutofit/>
          </a:bodyPr>
          <a:lstStyle/>
          <a:p>
            <a:pPr marL="0" indent="0" algn="ctr">
              <a:lnSpc>
                <a:spcPct val="115000"/>
              </a:lnSpc>
              <a:buNone/>
            </a:pPr>
            <a:r>
              <a:rPr lang="en-US" sz="1850" b="1" dirty="0">
                <a:solidFill>
                  <a:srgbClr val="FFFFFF"/>
                </a:solidFill>
                <a:latin typeface="Red Hat Text Bold" pitchFamily="34" charset="0"/>
                <a:ea typeface="Red Hat Text Bold" pitchFamily="34" charset="-122"/>
                <a:cs typeface="Red Hat Text Bold" pitchFamily="34" charset="-120"/>
              </a:rPr>
              <a:t>XNOR</a:t>
            </a:r>
            <a:r>
              <a:rPr lang="en-US" sz="1850" dirty="0">
                <a:solidFill>
                  <a:srgbClr val="FFFFFF"/>
                </a:solidFill>
                <a:latin typeface="Red Hat Text" pitchFamily="34" charset="0"/>
                <a:ea typeface="Red Hat Text" pitchFamily="34" charset="-122"/>
                <a:cs typeface="Red Hat Text" pitchFamily="34" charset="-120"/>
              </a:rPr>
              <a:t> → E1</a:t>
            </a:r>
            <a:endParaRPr lang="en-US" sz="1850" dirty="0"/>
          </a:p>
        </p:txBody>
      </p:sp>
      <p:sp>
        <p:nvSpPr>
          <p:cNvPr id="27" name="Shape 23"/>
          <p:cNvSpPr/>
          <p:nvPr/>
        </p:nvSpPr>
        <p:spPr>
          <a:xfrm>
            <a:off x="2960713" y="5283994"/>
            <a:ext cx="1306083" cy="522387"/>
          </a:xfrm>
          <a:prstGeom prst="roundRect">
            <a:avLst>
              <a:gd name="adj" fmla="val 8110"/>
            </a:avLst>
          </a:prstGeom>
          <a:solidFill>
            <a:srgbClr val="111A20"/>
          </a:solidFill>
          <a:ln/>
        </p:spPr>
      </p:sp>
      <p:sp>
        <p:nvSpPr>
          <p:cNvPr id="28" name="Text 24"/>
          <p:cNvSpPr/>
          <p:nvPr/>
        </p:nvSpPr>
        <p:spPr>
          <a:xfrm>
            <a:off x="3019548" y="5190331"/>
            <a:ext cx="1188611" cy="648295"/>
          </a:xfrm>
          <a:prstGeom prst="rect">
            <a:avLst/>
          </a:prstGeom>
          <a:noFill/>
          <a:ln/>
        </p:spPr>
        <p:txBody>
          <a:bodyPr wrap="square" lIns="0" tIns="0" rIns="0" bIns="0" rtlCol="0" anchor="t">
            <a:normAutofit/>
          </a:bodyPr>
          <a:lstStyle/>
          <a:p>
            <a:pPr marL="0" indent="0" algn="ctr">
              <a:lnSpc>
                <a:spcPct val="115000"/>
              </a:lnSpc>
              <a:buNone/>
            </a:pPr>
            <a:r>
              <a:rPr lang="en-US" sz="1850" b="1" dirty="0">
                <a:solidFill>
                  <a:srgbClr val="FFFFFF"/>
                </a:solidFill>
                <a:latin typeface="Red Hat Text Bold" pitchFamily="34" charset="0"/>
                <a:ea typeface="Red Hat Text Bold" pitchFamily="34" charset="-122"/>
                <a:cs typeface="Red Hat Text Bold" pitchFamily="34" charset="-120"/>
              </a:rPr>
              <a:t>XNOR</a:t>
            </a:r>
            <a:r>
              <a:rPr lang="en-US" sz="1850" dirty="0">
                <a:solidFill>
                  <a:srgbClr val="FFFFFF"/>
                </a:solidFill>
                <a:latin typeface="Red Hat Text" pitchFamily="34" charset="0"/>
                <a:ea typeface="Red Hat Text" pitchFamily="34" charset="-122"/>
                <a:cs typeface="Red Hat Text" pitchFamily="34" charset="-120"/>
              </a:rPr>
              <a:t> → E0</a:t>
            </a:r>
            <a:endParaRPr lang="en-US" sz="1850" dirty="0"/>
          </a:p>
        </p:txBody>
      </p:sp>
      <p:sp>
        <p:nvSpPr>
          <p:cNvPr id="29" name="Shape 25"/>
          <p:cNvSpPr/>
          <p:nvPr/>
        </p:nvSpPr>
        <p:spPr>
          <a:xfrm rot="68400">
            <a:off x="4267093" y="3187700"/>
            <a:ext cx="653141" cy="25400"/>
          </a:xfrm>
          <a:prstGeom prst="rect">
            <a:avLst/>
          </a:prstGeom>
          <a:solidFill>
            <a:srgbClr val="3A7896"/>
          </a:solidFill>
          <a:ln/>
        </p:spPr>
      </p:sp>
      <p:sp>
        <p:nvSpPr>
          <p:cNvPr id="30" name="Shape 26"/>
          <p:cNvSpPr/>
          <p:nvPr/>
        </p:nvSpPr>
        <p:spPr>
          <a:xfrm rot="68400">
            <a:off x="4267093" y="3971528"/>
            <a:ext cx="653141" cy="25400"/>
          </a:xfrm>
          <a:prstGeom prst="rect">
            <a:avLst/>
          </a:prstGeom>
          <a:solidFill>
            <a:srgbClr val="3A7896"/>
          </a:solidFill>
          <a:ln/>
        </p:spPr>
      </p:sp>
      <p:sp>
        <p:nvSpPr>
          <p:cNvPr id="31" name="Shape 27"/>
          <p:cNvSpPr/>
          <p:nvPr/>
        </p:nvSpPr>
        <p:spPr>
          <a:xfrm rot="68400">
            <a:off x="4267093" y="4755257"/>
            <a:ext cx="653141" cy="25400"/>
          </a:xfrm>
          <a:prstGeom prst="rect">
            <a:avLst/>
          </a:prstGeom>
          <a:solidFill>
            <a:srgbClr val="3A7896"/>
          </a:solidFill>
          <a:ln/>
        </p:spPr>
      </p:sp>
      <p:sp>
        <p:nvSpPr>
          <p:cNvPr id="32" name="Shape 28"/>
          <p:cNvSpPr/>
          <p:nvPr/>
        </p:nvSpPr>
        <p:spPr>
          <a:xfrm rot="68400">
            <a:off x="4267093" y="5539085"/>
            <a:ext cx="653141" cy="25400"/>
          </a:xfrm>
          <a:prstGeom prst="rect">
            <a:avLst/>
          </a:prstGeom>
          <a:solidFill>
            <a:srgbClr val="3A7896"/>
          </a:solidFill>
          <a:ln/>
        </p:spPr>
      </p:sp>
      <p:sp>
        <p:nvSpPr>
          <p:cNvPr id="33" name="Shape 29"/>
          <p:cNvSpPr/>
          <p:nvPr/>
        </p:nvSpPr>
        <p:spPr>
          <a:xfrm>
            <a:off x="4920036" y="3193852"/>
            <a:ext cx="1697987" cy="2612628"/>
          </a:xfrm>
          <a:prstGeom prst="roundRect">
            <a:avLst>
              <a:gd name="adj" fmla="val 2495"/>
            </a:avLst>
          </a:prstGeom>
          <a:solidFill>
            <a:srgbClr val="F4B23E"/>
          </a:solidFill>
          <a:ln/>
        </p:spPr>
      </p:sp>
      <p:sp>
        <p:nvSpPr>
          <p:cNvPr id="34" name="Text 30"/>
          <p:cNvSpPr/>
          <p:nvPr/>
        </p:nvSpPr>
        <p:spPr>
          <a:xfrm>
            <a:off x="4978871" y="3699915"/>
            <a:ext cx="1580515" cy="1542256"/>
          </a:xfrm>
          <a:prstGeom prst="rect">
            <a:avLst/>
          </a:prstGeom>
          <a:noFill/>
          <a:ln/>
        </p:spPr>
        <p:txBody>
          <a:bodyPr wrap="square" lIns="0" tIns="0" rIns="0" bIns="0" rtlCol="0" anchor="t">
            <a:normAutofit/>
          </a:bodyPr>
          <a:lstStyle/>
          <a:p>
            <a:pPr marL="0" indent="0" algn="ctr">
              <a:lnSpc>
                <a:spcPct val="115000"/>
              </a:lnSpc>
              <a:buNone/>
            </a:pPr>
            <a:r>
              <a:rPr lang="en-US" sz="2200" b="1" dirty="0">
                <a:solidFill>
                  <a:srgbClr val="000000"/>
                </a:solidFill>
                <a:latin typeface="Red Hat Text Bold" pitchFamily="34" charset="0"/>
                <a:ea typeface="Red Hat Text Bold" pitchFamily="34" charset="-122"/>
                <a:cs typeface="Red Hat Text Bold" pitchFamily="34" charset="-120"/>
              </a:rPr>
              <a:t>4-input AND</a:t>
            </a:r>
            <a:endParaRPr lang="en-US" sz="2200" dirty="0"/>
          </a:p>
          <a:p>
            <a:pPr marL="0" indent="0" algn="ctr">
              <a:lnSpc>
                <a:spcPct val="115000"/>
              </a:lnSpc>
              <a:buNone/>
            </a:pPr>
            <a:r>
              <a:rPr lang="en-US" sz="2200" dirty="0">
                <a:solidFill>
                  <a:srgbClr val="000000"/>
                </a:solidFill>
                <a:latin typeface="Red Hat Text" pitchFamily="34" charset="0"/>
                <a:ea typeface="Red Hat Text" pitchFamily="34" charset="-122"/>
                <a:cs typeface="Red Hat Text" pitchFamily="34" charset="-120"/>
              </a:rPr>
              <a:t>E3 · E2 · E1 · E0</a:t>
            </a:r>
            <a:endParaRPr lang="en-US" sz="2200" dirty="0"/>
          </a:p>
        </p:txBody>
      </p:sp>
      <p:sp>
        <p:nvSpPr>
          <p:cNvPr id="35" name="Shape 31"/>
          <p:cNvSpPr/>
          <p:nvPr/>
        </p:nvSpPr>
        <p:spPr>
          <a:xfrm rot="85200">
            <a:off x="6618221" y="4494014"/>
            <a:ext cx="522572" cy="25400"/>
          </a:xfrm>
          <a:prstGeom prst="rect">
            <a:avLst/>
          </a:prstGeom>
          <a:solidFill>
            <a:srgbClr val="3A7896"/>
          </a:solidFill>
          <a:ln/>
        </p:spPr>
      </p:sp>
      <p:sp>
        <p:nvSpPr>
          <p:cNvPr id="36" name="Shape 32"/>
          <p:cNvSpPr/>
          <p:nvPr/>
        </p:nvSpPr>
        <p:spPr>
          <a:xfrm>
            <a:off x="7140694" y="4108252"/>
            <a:ext cx="1828754" cy="783630"/>
          </a:xfrm>
          <a:prstGeom prst="roundRect">
            <a:avLst>
              <a:gd name="adj" fmla="val 5406"/>
            </a:avLst>
          </a:prstGeom>
          <a:solidFill>
            <a:srgbClr val="2A2E32"/>
          </a:solidFill>
          <a:ln/>
        </p:spPr>
      </p:sp>
      <p:sp>
        <p:nvSpPr>
          <p:cNvPr id="37" name="Text 33"/>
          <p:cNvSpPr/>
          <p:nvPr/>
        </p:nvSpPr>
        <p:spPr>
          <a:xfrm>
            <a:off x="7199529" y="4145260"/>
            <a:ext cx="1711282" cy="648295"/>
          </a:xfrm>
          <a:prstGeom prst="rect">
            <a:avLst/>
          </a:prstGeom>
          <a:noFill/>
          <a:ln/>
        </p:spPr>
        <p:txBody>
          <a:bodyPr wrap="square" lIns="0" tIns="0" rIns="0" bIns="0" rtlCol="0" anchor="t">
            <a:normAutofit/>
          </a:bodyPr>
          <a:lstStyle/>
          <a:p>
            <a:pPr marL="0" indent="0" algn="ctr">
              <a:lnSpc>
                <a:spcPct val="115000"/>
              </a:lnSpc>
              <a:buNone/>
            </a:pPr>
            <a:r>
              <a:rPr lang="en-US" sz="1850" b="1" dirty="0">
                <a:solidFill>
                  <a:srgbClr val="FFFFFF"/>
                </a:solidFill>
                <a:latin typeface="Red Hat Text Bold" pitchFamily="34" charset="0"/>
                <a:ea typeface="Red Hat Text Bold" pitchFamily="34" charset="-122"/>
                <a:cs typeface="Red Hat Text Bold" pitchFamily="34" charset="-120"/>
              </a:rPr>
              <a:t>A=B</a:t>
            </a:r>
            <a:endParaRPr lang="en-US" sz="1850" dirty="0"/>
          </a:p>
          <a:p>
            <a:pPr marL="0" indent="0" algn="ctr">
              <a:lnSpc>
                <a:spcPct val="115000"/>
              </a:lnSpc>
              <a:buNone/>
            </a:pPr>
            <a:r>
              <a:rPr lang="en-US" sz="1850" dirty="0">
                <a:solidFill>
                  <a:srgbClr val="FFFFFF"/>
                </a:solidFill>
                <a:latin typeface="Red Hat Text" pitchFamily="34" charset="0"/>
                <a:ea typeface="Red Hat Text" pitchFamily="34" charset="-122"/>
                <a:cs typeface="Red Hat Text" pitchFamily="34" charset="-120"/>
              </a:rPr>
              <a:t>all pairs match</a:t>
            </a:r>
            <a:endParaRPr lang="en-US" sz="1850" dirty="0"/>
          </a:p>
        </p:txBody>
      </p:sp>
      <p:sp>
        <p:nvSpPr>
          <p:cNvPr id="38" name="Shape 34"/>
          <p:cNvSpPr/>
          <p:nvPr/>
        </p:nvSpPr>
        <p:spPr>
          <a:xfrm>
            <a:off x="7140694" y="2802037"/>
            <a:ext cx="1828754" cy="914400"/>
          </a:xfrm>
          <a:prstGeom prst="roundRect">
            <a:avLst>
              <a:gd name="adj" fmla="val 4633"/>
            </a:avLst>
          </a:prstGeom>
          <a:solidFill>
            <a:srgbClr val="111A20"/>
          </a:solidFill>
          <a:ln/>
        </p:spPr>
      </p:sp>
      <p:sp>
        <p:nvSpPr>
          <p:cNvPr id="39" name="Text 35"/>
          <p:cNvSpPr/>
          <p:nvPr/>
        </p:nvSpPr>
        <p:spPr>
          <a:xfrm>
            <a:off x="7199529" y="2742109"/>
            <a:ext cx="1711282" cy="972443"/>
          </a:xfrm>
          <a:prstGeom prst="rect">
            <a:avLst/>
          </a:prstGeom>
          <a:noFill/>
          <a:ln/>
        </p:spPr>
        <p:txBody>
          <a:bodyPr wrap="square" lIns="0" tIns="0" rIns="0" bIns="0" rtlCol="0" anchor="t">
            <a:normAutofit/>
          </a:bodyPr>
          <a:lstStyle/>
          <a:p>
            <a:pPr marL="0" indent="0" algn="ctr">
              <a:lnSpc>
                <a:spcPct val="115000"/>
              </a:lnSpc>
              <a:buNone/>
            </a:pPr>
            <a:r>
              <a:rPr lang="en-US" sz="1850" b="1" dirty="0">
                <a:solidFill>
                  <a:srgbClr val="FFFFFF"/>
                </a:solidFill>
                <a:latin typeface="Red Hat Text Bold" pitchFamily="34" charset="0"/>
                <a:ea typeface="Red Hat Text Bold" pitchFamily="34" charset="-122"/>
                <a:cs typeface="Red Hat Text Bold" pitchFamily="34" charset="-120"/>
              </a:rPr>
              <a:t>A&gt;B</a:t>
            </a:r>
            <a:endParaRPr lang="en-US" sz="1850" dirty="0"/>
          </a:p>
          <a:p>
            <a:pPr marL="0" indent="0" algn="ctr">
              <a:lnSpc>
                <a:spcPct val="115000"/>
              </a:lnSpc>
              <a:buNone/>
            </a:pPr>
            <a:r>
              <a:rPr lang="en-US" sz="1850" dirty="0">
                <a:solidFill>
                  <a:srgbClr val="FFFFFF"/>
                </a:solidFill>
                <a:latin typeface="Red Hat Text" pitchFamily="34" charset="0"/>
                <a:ea typeface="Red Hat Text" pitchFamily="34" charset="-122"/>
                <a:cs typeface="Red Hat Text" pitchFamily="34" charset="-120"/>
              </a:rPr>
              <a:t>from MSB priority</a:t>
            </a:r>
            <a:endParaRPr lang="en-US" sz="1850" dirty="0"/>
          </a:p>
        </p:txBody>
      </p:sp>
      <p:sp>
        <p:nvSpPr>
          <p:cNvPr id="40" name="Shape 36"/>
          <p:cNvSpPr/>
          <p:nvPr/>
        </p:nvSpPr>
        <p:spPr>
          <a:xfrm>
            <a:off x="7140694" y="5806480"/>
            <a:ext cx="1828754" cy="914400"/>
          </a:xfrm>
          <a:prstGeom prst="roundRect">
            <a:avLst>
              <a:gd name="adj" fmla="val 4633"/>
            </a:avLst>
          </a:prstGeom>
          <a:solidFill>
            <a:srgbClr val="111A20"/>
          </a:solidFill>
          <a:ln/>
        </p:spPr>
      </p:sp>
      <p:sp>
        <p:nvSpPr>
          <p:cNvPr id="41" name="Text 37"/>
          <p:cNvSpPr/>
          <p:nvPr/>
        </p:nvSpPr>
        <p:spPr>
          <a:xfrm>
            <a:off x="7199529" y="5746552"/>
            <a:ext cx="1711282" cy="972443"/>
          </a:xfrm>
          <a:prstGeom prst="rect">
            <a:avLst/>
          </a:prstGeom>
          <a:noFill/>
          <a:ln/>
        </p:spPr>
        <p:txBody>
          <a:bodyPr wrap="square" lIns="0" tIns="0" rIns="0" bIns="0" rtlCol="0" anchor="t">
            <a:normAutofit/>
          </a:bodyPr>
          <a:lstStyle/>
          <a:p>
            <a:pPr marL="0" indent="0" algn="ctr">
              <a:lnSpc>
                <a:spcPct val="115000"/>
              </a:lnSpc>
              <a:buNone/>
            </a:pPr>
            <a:r>
              <a:rPr lang="en-US" sz="1850" b="1" dirty="0">
                <a:solidFill>
                  <a:srgbClr val="FFFFFF"/>
                </a:solidFill>
                <a:latin typeface="Red Hat Text Bold" pitchFamily="34" charset="0"/>
                <a:ea typeface="Red Hat Text Bold" pitchFamily="34" charset="-122"/>
                <a:cs typeface="Red Hat Text Bold" pitchFamily="34" charset="-120"/>
              </a:rPr>
              <a:t>A&lt;B</a:t>
            </a:r>
            <a:endParaRPr lang="en-US" sz="1850" dirty="0"/>
          </a:p>
          <a:p>
            <a:pPr marL="0" indent="0" algn="ctr">
              <a:lnSpc>
                <a:spcPct val="115000"/>
              </a:lnSpc>
              <a:buNone/>
            </a:pPr>
            <a:r>
              <a:rPr lang="en-US" sz="1850" dirty="0">
                <a:solidFill>
                  <a:srgbClr val="FFFFFF"/>
                </a:solidFill>
                <a:latin typeface="Red Hat Text" pitchFamily="34" charset="0"/>
                <a:ea typeface="Red Hat Text" pitchFamily="34" charset="-122"/>
                <a:cs typeface="Red Hat Text" pitchFamily="34" charset="-120"/>
              </a:rPr>
              <a:t>from MSB priority</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27162"/>
            <a:ext cx="11582110" cy="174625"/>
          </a:xfrm>
          <a:prstGeom prst="rect">
            <a:avLst/>
          </a:prstGeom>
          <a:noFill/>
          <a:ln/>
        </p:spPr>
        <p:txBody>
          <a:bodyPr wrap="none" lIns="0" tIns="0" rIns="0" bIns="0" rtlCol="0" anchor="t"/>
          <a:lstStyle/>
          <a:p>
            <a:pPr marL="0" indent="0" algn="l">
              <a:lnSpc>
                <a:spcPct val="104000"/>
              </a:lnSpc>
              <a:buNone/>
            </a:pPr>
            <a:r>
              <a:rPr lang="en-US" sz="1100" kern="100" spc="87" dirty="0">
                <a:solidFill>
                  <a:srgbClr val="D3E6EE"/>
                </a:solidFill>
                <a:latin typeface="Red Hat Mono" pitchFamily="34" charset="0"/>
                <a:ea typeface="Red Hat Mono" pitchFamily="34" charset="-122"/>
                <a:cs typeface="Red Hat Mono" pitchFamily="34" charset="-120"/>
              </a:rPr>
              <a:t>PRIORITY LOGIC</a:t>
            </a:r>
            <a:endParaRPr lang="en-US" sz="1100" dirty="0"/>
          </a:p>
        </p:txBody>
      </p:sp>
      <p:sp>
        <p:nvSpPr>
          <p:cNvPr id="3" name="Text 1"/>
          <p:cNvSpPr/>
          <p:nvPr/>
        </p:nvSpPr>
        <p:spPr>
          <a:xfrm>
            <a:off x="609585" y="855348"/>
            <a:ext cx="10972526" cy="411460"/>
          </a:xfrm>
          <a:prstGeom prst="rect">
            <a:avLst/>
          </a:prstGeom>
          <a:noFill/>
          <a:ln/>
        </p:spPr>
        <p:txBody>
          <a:bodyPr wrap="none" lIns="0" tIns="0" rIns="0" bIns="0" rtlCol="0" anchor="t"/>
          <a:lstStyle/>
          <a:p>
            <a:pPr marL="0" indent="0" algn="l">
              <a:lnSpc>
                <a:spcPct val="90000"/>
              </a:lnSpc>
              <a:buNone/>
            </a:pPr>
            <a:r>
              <a:rPr lang="en-US" sz="3000" b="1" kern="100" spc="-30" dirty="0">
                <a:solidFill>
                  <a:srgbClr val="F4B23E"/>
                </a:solidFill>
                <a:latin typeface="Playfair Display Bold" pitchFamily="34" charset="0"/>
                <a:ea typeface="Playfair Display Bold" pitchFamily="34" charset="-122"/>
                <a:cs typeface="Playfair Display Bold" pitchFamily="34" charset="-120"/>
              </a:rPr>
              <a:t>Greater-than and less-than logic cascade</a:t>
            </a:r>
            <a:endParaRPr lang="en-US" sz="3000" dirty="0"/>
          </a:p>
        </p:txBody>
      </p:sp>
      <p:sp>
        <p:nvSpPr>
          <p:cNvPr id="4" name="Shape 2"/>
          <p:cNvSpPr/>
          <p:nvPr/>
        </p:nvSpPr>
        <p:spPr>
          <a:xfrm>
            <a:off x="609585" y="1624013"/>
            <a:ext cx="5432884" cy="4892080"/>
          </a:xfrm>
          <a:prstGeom prst="rect">
            <a:avLst/>
          </a:prstGeom>
          <a:solidFill>
            <a:srgbClr val="111A20"/>
          </a:solidFill>
          <a:ln/>
        </p:spPr>
      </p:sp>
      <p:sp>
        <p:nvSpPr>
          <p:cNvPr id="5" name="Text 3"/>
          <p:cNvSpPr/>
          <p:nvPr/>
        </p:nvSpPr>
        <p:spPr>
          <a:xfrm>
            <a:off x="838179" y="1870174"/>
            <a:ext cx="5204290" cy="174625"/>
          </a:xfrm>
          <a:prstGeom prst="rect">
            <a:avLst/>
          </a:prstGeom>
          <a:noFill/>
          <a:ln/>
        </p:spPr>
        <p:txBody>
          <a:bodyPr wrap="none" lIns="0" tIns="0" rIns="0" bIns="0" rtlCol="0" anchor="t"/>
          <a:lstStyle/>
          <a:p>
            <a:pPr marL="0" indent="0" algn="l">
              <a:lnSpc>
                <a:spcPct val="104000"/>
              </a:lnSpc>
              <a:buNone/>
            </a:pPr>
            <a:r>
              <a:rPr lang="en-US" sz="1100" kern="100" spc="87" dirty="0">
                <a:solidFill>
                  <a:srgbClr val="FFFFFF"/>
                </a:solidFill>
                <a:latin typeface="Red Hat Mono" pitchFamily="34" charset="0"/>
                <a:ea typeface="Red Hat Mono" pitchFamily="34" charset="-122"/>
                <a:cs typeface="Red Hat Mono" pitchFamily="34" charset="-120"/>
              </a:rPr>
              <a:t>GREATER</a:t>
            </a:r>
            <a:endParaRPr lang="en-US" sz="1100" dirty="0"/>
          </a:p>
        </p:txBody>
      </p:sp>
      <p:pic>
        <p:nvPicPr>
          <p:cNvPr id="6" name="Image 0" descr="preencoded.png"/>
          <p:cNvPicPr>
            <a:picLocks noChangeAspect="1"/>
          </p:cNvPicPr>
          <p:nvPr/>
        </p:nvPicPr>
        <p:blipFill>
          <a:blip r:embed="rId3"/>
          <a:stretch>
            <a:fillRect/>
          </a:stretch>
        </p:blipFill>
        <p:spPr>
          <a:xfrm>
            <a:off x="838179" y="2122984"/>
            <a:ext cx="4975696" cy="698103"/>
          </a:xfrm>
          <a:prstGeom prst="rect">
            <a:avLst/>
          </a:prstGeom>
        </p:spPr>
      </p:pic>
      <p:sp>
        <p:nvSpPr>
          <p:cNvPr id="7" name="Text 4"/>
          <p:cNvSpPr/>
          <p:nvPr/>
        </p:nvSpPr>
        <p:spPr>
          <a:xfrm>
            <a:off x="838179" y="2936875"/>
            <a:ext cx="5204290" cy="174625"/>
          </a:xfrm>
          <a:prstGeom prst="rect">
            <a:avLst/>
          </a:prstGeom>
          <a:noFill/>
          <a:ln/>
        </p:spPr>
        <p:txBody>
          <a:bodyPr wrap="none" lIns="0" tIns="0" rIns="0" bIns="0" rtlCol="0" anchor="t"/>
          <a:lstStyle/>
          <a:p>
            <a:pPr marL="0" indent="0" algn="l">
              <a:lnSpc>
                <a:spcPct val="104000"/>
              </a:lnSpc>
              <a:buNone/>
            </a:pPr>
            <a:r>
              <a:rPr lang="en-US" sz="1100" kern="100" spc="87" dirty="0">
                <a:solidFill>
                  <a:srgbClr val="FFFFFF"/>
                </a:solidFill>
                <a:latin typeface="Red Hat Mono" pitchFamily="34" charset="0"/>
                <a:ea typeface="Red Hat Mono" pitchFamily="34" charset="-122"/>
                <a:cs typeface="Red Hat Mono" pitchFamily="34" charset="-120"/>
              </a:rPr>
              <a:t>LESS</a:t>
            </a:r>
            <a:endParaRPr lang="en-US" sz="1100" dirty="0"/>
          </a:p>
        </p:txBody>
      </p:sp>
      <p:pic>
        <p:nvPicPr>
          <p:cNvPr id="8" name="Image 1" descr="preencoded.png"/>
          <p:cNvPicPr>
            <a:picLocks noChangeAspect="1"/>
          </p:cNvPicPr>
          <p:nvPr/>
        </p:nvPicPr>
        <p:blipFill>
          <a:blip r:embed="rId4"/>
          <a:stretch>
            <a:fillRect/>
          </a:stretch>
        </p:blipFill>
        <p:spPr>
          <a:xfrm>
            <a:off x="838179" y="3190974"/>
            <a:ext cx="4975696" cy="698103"/>
          </a:xfrm>
          <a:prstGeom prst="rect">
            <a:avLst/>
          </a:prstGeom>
        </p:spPr>
      </p:pic>
      <p:pic>
        <p:nvPicPr>
          <p:cNvPr id="9" name="Image 2" descr="preencoded.png"/>
          <p:cNvPicPr>
            <a:picLocks noChangeAspect="1"/>
          </p:cNvPicPr>
          <p:nvPr/>
        </p:nvPicPr>
        <p:blipFill>
          <a:blip r:embed="rId5"/>
          <a:stretch>
            <a:fillRect/>
          </a:stretch>
        </p:blipFill>
        <p:spPr>
          <a:xfrm>
            <a:off x="6659594" y="1624013"/>
            <a:ext cx="4693822" cy="4892080"/>
          </a:xfrm>
          <a:prstGeom prst="rect">
            <a:avLst/>
          </a:prstGeom>
        </p:spPr>
      </p:pic>
      <p:sp>
        <p:nvSpPr>
          <p:cNvPr id="10" name="Text 5"/>
          <p:cNvSpPr/>
          <p:nvPr/>
        </p:nvSpPr>
        <p:spPr>
          <a:xfrm>
            <a:off x="6728153" y="1873250"/>
            <a:ext cx="864769" cy="203200"/>
          </a:xfrm>
          <a:prstGeom prst="rect">
            <a:avLst/>
          </a:prstGeom>
          <a:noFill/>
          <a:ln/>
        </p:spPr>
        <p:txBody>
          <a:bodyPr wrap="none" lIns="0" tIns="0" rIns="0" bIns="0" rtlCol="0" anchor="t"/>
          <a:lstStyle/>
          <a:p>
            <a:pPr marL="0" indent="0" algn="l">
              <a:lnSpc>
                <a:spcPct val="83000"/>
              </a:lnSpc>
              <a:buNone/>
            </a:pPr>
            <a:r>
              <a:rPr lang="en-US" sz="1600" dirty="0">
                <a:solidFill>
                  <a:srgbClr val="F7C463"/>
                </a:solidFill>
                <a:latin typeface="Red Hat Text SemiBold" pitchFamily="34" charset="0"/>
                <a:ea typeface="Red Hat Text SemiBold" pitchFamily="34" charset="-122"/>
                <a:cs typeface="Red Hat Text SemiBold" pitchFamily="34" charset="-120"/>
              </a:rPr>
              <a:t>01</a:t>
            </a:r>
            <a:endParaRPr lang="en-US" sz="1600" dirty="0"/>
          </a:p>
        </p:txBody>
      </p:sp>
      <p:sp>
        <p:nvSpPr>
          <p:cNvPr id="11" name="Text 6"/>
          <p:cNvSpPr/>
          <p:nvPr/>
        </p:nvSpPr>
        <p:spPr>
          <a:xfrm>
            <a:off x="8321864" y="1873250"/>
            <a:ext cx="864868" cy="203200"/>
          </a:xfrm>
          <a:prstGeom prst="rect">
            <a:avLst/>
          </a:prstGeom>
          <a:noFill/>
          <a:ln/>
        </p:spPr>
        <p:txBody>
          <a:bodyPr wrap="none" lIns="0" tIns="0" rIns="0" bIns="0" rtlCol="0" anchor="t"/>
          <a:lstStyle/>
          <a:p>
            <a:pPr marL="0" indent="0" algn="l">
              <a:lnSpc>
                <a:spcPct val="83000"/>
              </a:lnSpc>
              <a:buNone/>
            </a:pPr>
            <a:r>
              <a:rPr lang="en-US" sz="1600" dirty="0">
                <a:solidFill>
                  <a:srgbClr val="F7C463"/>
                </a:solidFill>
                <a:latin typeface="Red Hat Text SemiBold" pitchFamily="34" charset="0"/>
                <a:ea typeface="Red Hat Text SemiBold" pitchFamily="34" charset="-122"/>
                <a:cs typeface="Red Hat Text SemiBold" pitchFamily="34" charset="-120"/>
              </a:rPr>
              <a:t>02</a:t>
            </a:r>
            <a:endParaRPr lang="en-US" sz="1600" dirty="0"/>
          </a:p>
        </p:txBody>
      </p:sp>
      <p:sp>
        <p:nvSpPr>
          <p:cNvPr id="12" name="Text 7"/>
          <p:cNvSpPr/>
          <p:nvPr/>
        </p:nvSpPr>
        <p:spPr>
          <a:xfrm>
            <a:off x="9915674" y="1873250"/>
            <a:ext cx="864868" cy="203200"/>
          </a:xfrm>
          <a:prstGeom prst="rect">
            <a:avLst/>
          </a:prstGeom>
          <a:noFill/>
          <a:ln/>
        </p:spPr>
        <p:txBody>
          <a:bodyPr wrap="none" lIns="0" tIns="0" rIns="0" bIns="0" rtlCol="0" anchor="t"/>
          <a:lstStyle/>
          <a:p>
            <a:pPr marL="0" indent="0" algn="l">
              <a:lnSpc>
                <a:spcPct val="83000"/>
              </a:lnSpc>
              <a:buNone/>
            </a:pPr>
            <a:r>
              <a:rPr lang="en-US" sz="1600" dirty="0">
                <a:solidFill>
                  <a:srgbClr val="F7C463"/>
                </a:solidFill>
                <a:latin typeface="Red Hat Text SemiBold" pitchFamily="34" charset="0"/>
                <a:ea typeface="Red Hat Text SemiBold" pitchFamily="34" charset="-122"/>
                <a:cs typeface="Red Hat Text SemiBold" pitchFamily="34" charset="-120"/>
              </a:rPr>
              <a:t>03</a:t>
            </a:r>
            <a:endParaRPr lang="en-US" sz="1600" dirty="0"/>
          </a:p>
        </p:txBody>
      </p:sp>
      <p:sp>
        <p:nvSpPr>
          <p:cNvPr id="13" name="Text 8"/>
          <p:cNvSpPr/>
          <p:nvPr/>
        </p:nvSpPr>
        <p:spPr>
          <a:xfrm>
            <a:off x="6728153" y="2250424"/>
            <a:ext cx="1440124" cy="509389"/>
          </a:xfrm>
          <a:prstGeom prst="rect">
            <a:avLst/>
          </a:prstGeom>
          <a:noFill/>
          <a:ln/>
        </p:spPr>
        <p:txBody>
          <a:bodyPr wrap="square" lIns="0" tIns="0" rIns="0" bIns="0" rtlCol="0" anchor="t">
            <a:normAutofit/>
          </a:bodyPr>
          <a:lstStyle/>
          <a:p>
            <a:pPr marL="0" indent="0" algn="l">
              <a:lnSpc>
                <a:spcPct val="98000"/>
              </a:lnSpc>
              <a:buNone/>
            </a:pPr>
            <a:r>
              <a:rPr lang="en-US" sz="1700" b="1" dirty="0">
                <a:solidFill>
                  <a:srgbClr val="F4B23E"/>
                </a:solidFill>
                <a:latin typeface="Red Hat Text Bold" pitchFamily="34" charset="0"/>
                <a:ea typeface="Red Hat Text Bold" pitchFamily="34" charset="-122"/>
                <a:cs typeface="Red Hat Text Bold" pitchFamily="34" charset="-120"/>
              </a:rPr>
              <a:t>Compare A3, B3</a:t>
            </a:r>
            <a:endParaRPr lang="en-US" sz="1700" dirty="0"/>
          </a:p>
        </p:txBody>
      </p:sp>
      <p:sp>
        <p:nvSpPr>
          <p:cNvPr id="14" name="Text 9"/>
          <p:cNvSpPr/>
          <p:nvPr/>
        </p:nvSpPr>
        <p:spPr>
          <a:xfrm>
            <a:off x="8320673" y="2293584"/>
            <a:ext cx="1440124" cy="254695"/>
          </a:xfrm>
          <a:prstGeom prst="rect">
            <a:avLst/>
          </a:prstGeom>
          <a:noFill/>
          <a:ln/>
        </p:spPr>
        <p:txBody>
          <a:bodyPr wrap="none" lIns="0" tIns="0" rIns="0" bIns="0" rtlCol="0" anchor="t"/>
          <a:lstStyle/>
          <a:p>
            <a:pPr marL="0" indent="0" algn="l">
              <a:lnSpc>
                <a:spcPct val="98000"/>
              </a:lnSpc>
              <a:buNone/>
            </a:pPr>
            <a:r>
              <a:rPr lang="en-US" sz="1700" b="1" dirty="0">
                <a:solidFill>
                  <a:srgbClr val="F4B23E"/>
                </a:solidFill>
                <a:latin typeface="Red Hat Text Bold" pitchFamily="34" charset="0"/>
                <a:ea typeface="Red Hat Text Bold" pitchFamily="34" charset="-122"/>
                <a:cs typeface="Red Hat Text Bold" pitchFamily="34" charset="-120"/>
              </a:rPr>
              <a:t>Enable bit 2</a:t>
            </a:r>
            <a:endParaRPr lang="en-US" sz="1700" dirty="0"/>
          </a:p>
        </p:txBody>
      </p:sp>
      <p:sp>
        <p:nvSpPr>
          <p:cNvPr id="15" name="Text 10"/>
          <p:cNvSpPr/>
          <p:nvPr/>
        </p:nvSpPr>
        <p:spPr>
          <a:xfrm>
            <a:off x="9913193" y="2250424"/>
            <a:ext cx="1440124" cy="509389"/>
          </a:xfrm>
          <a:prstGeom prst="rect">
            <a:avLst/>
          </a:prstGeom>
          <a:noFill/>
          <a:ln/>
        </p:spPr>
        <p:txBody>
          <a:bodyPr wrap="square" lIns="0" tIns="0" rIns="0" bIns="0" rtlCol="0" anchor="t">
            <a:normAutofit/>
          </a:bodyPr>
          <a:lstStyle/>
          <a:p>
            <a:pPr marL="0" indent="0" algn="l">
              <a:lnSpc>
                <a:spcPct val="98000"/>
              </a:lnSpc>
              <a:buNone/>
            </a:pPr>
            <a:r>
              <a:rPr lang="en-US" sz="1700" b="1" dirty="0">
                <a:solidFill>
                  <a:srgbClr val="F4B23E"/>
                </a:solidFill>
                <a:latin typeface="Red Hat Text Bold" pitchFamily="34" charset="0"/>
                <a:ea typeface="Red Hat Text Bold" pitchFamily="34" charset="-122"/>
                <a:cs typeface="Red Hat Text Bold" pitchFamily="34" charset="-120"/>
              </a:rPr>
              <a:t>Continue right</a:t>
            </a:r>
            <a:endParaRPr lang="en-US" sz="1700" dirty="0"/>
          </a:p>
        </p:txBody>
      </p:sp>
      <p:sp>
        <p:nvSpPr>
          <p:cNvPr id="16" name="Text 11"/>
          <p:cNvSpPr/>
          <p:nvPr/>
        </p:nvSpPr>
        <p:spPr>
          <a:xfrm>
            <a:off x="6728153" y="2916015"/>
            <a:ext cx="1490923" cy="257969"/>
          </a:xfrm>
          <a:prstGeom prst="rect">
            <a:avLst/>
          </a:prstGeom>
          <a:noFill/>
          <a:ln/>
        </p:spPr>
        <p:txBody>
          <a:bodyPr wrap="none" lIns="0" tIns="0" rIns="0" bIns="0" rtlCol="0" anchor="t"/>
          <a:lstStyle/>
          <a:p>
            <a:pPr marL="0" indent="0" algn="l">
              <a:lnSpc>
                <a:spcPct val="106000"/>
              </a:lnSpc>
              <a:buNone/>
            </a:pPr>
            <a:r>
              <a:rPr lang="en-US" sz="1600" dirty="0">
                <a:solidFill>
                  <a:srgbClr val="E4E9EB"/>
                </a:solidFill>
                <a:latin typeface="Red Hat Text" pitchFamily="34" charset="0"/>
                <a:ea typeface="Red Hat Text" pitchFamily="34" charset="-122"/>
                <a:cs typeface="Red Hat Text" pitchFamily="34" charset="-120"/>
              </a:rPr>
              <a:t>If unequal, stop.</a:t>
            </a:r>
            <a:endParaRPr lang="en-US" sz="1600" dirty="0"/>
          </a:p>
        </p:txBody>
      </p:sp>
      <p:sp>
        <p:nvSpPr>
          <p:cNvPr id="17" name="Text 12"/>
          <p:cNvSpPr/>
          <p:nvPr/>
        </p:nvSpPr>
        <p:spPr>
          <a:xfrm>
            <a:off x="8320673" y="2629075"/>
            <a:ext cx="1439727" cy="515938"/>
          </a:xfrm>
          <a:prstGeom prst="rect">
            <a:avLst/>
          </a:prstGeom>
          <a:noFill/>
          <a:ln/>
        </p:spPr>
        <p:txBody>
          <a:bodyPr wrap="square" lIns="0" tIns="0" rIns="0" bIns="0" rtlCol="0" anchor="t">
            <a:normAutofit/>
          </a:bodyPr>
          <a:lstStyle/>
          <a:p>
            <a:pPr marL="0" indent="0" algn="l">
              <a:lnSpc>
                <a:spcPct val="106000"/>
              </a:lnSpc>
              <a:buNone/>
            </a:pPr>
            <a:r>
              <a:rPr lang="en-US" sz="1600" dirty="0">
                <a:solidFill>
                  <a:srgbClr val="E4E9EB"/>
                </a:solidFill>
                <a:latin typeface="Red Hat Text" pitchFamily="34" charset="0"/>
                <a:ea typeface="Red Hat Text" pitchFamily="34" charset="-122"/>
                <a:cs typeface="Red Hat Text" pitchFamily="34" charset="-120"/>
              </a:rPr>
              <a:t>Only when E3=1.</a:t>
            </a:r>
            <a:endParaRPr lang="en-US" sz="1600" dirty="0"/>
          </a:p>
        </p:txBody>
      </p:sp>
      <p:sp>
        <p:nvSpPr>
          <p:cNvPr id="18" name="Text 13"/>
          <p:cNvSpPr/>
          <p:nvPr/>
        </p:nvSpPr>
        <p:spPr>
          <a:xfrm>
            <a:off x="9912697" y="2880495"/>
            <a:ext cx="1440620" cy="773906"/>
          </a:xfrm>
          <a:prstGeom prst="rect">
            <a:avLst/>
          </a:prstGeom>
          <a:noFill/>
          <a:ln/>
        </p:spPr>
        <p:txBody>
          <a:bodyPr wrap="square" lIns="0" tIns="0" rIns="0" bIns="0" rtlCol="0" anchor="t">
            <a:normAutofit/>
          </a:bodyPr>
          <a:lstStyle/>
          <a:p>
            <a:pPr marL="0" indent="0" algn="l">
              <a:lnSpc>
                <a:spcPct val="106000"/>
              </a:lnSpc>
              <a:buNone/>
            </a:pPr>
            <a:r>
              <a:rPr lang="en-US" sz="1600" dirty="0">
                <a:solidFill>
                  <a:srgbClr val="E4E9EB"/>
                </a:solidFill>
                <a:latin typeface="Red Hat Text" pitchFamily="34" charset="0"/>
                <a:ea typeface="Red Hat Text" pitchFamily="34" charset="-122"/>
                <a:cs typeface="Red Hat Text" pitchFamily="34" charset="-120"/>
              </a:rPr>
              <a:t>Match gates open the next pair.</a:t>
            </a:r>
            <a:endParaRPr lang="en-US" sz="1600" dirty="0"/>
          </a:p>
        </p:txBody>
      </p:sp>
      <p:pic>
        <p:nvPicPr>
          <p:cNvPr id="19" name="Image 3" descr="preencoded.png"/>
          <p:cNvPicPr>
            <a:picLocks noChangeAspect="1"/>
          </p:cNvPicPr>
          <p:nvPr/>
        </p:nvPicPr>
        <p:blipFill>
          <a:blip r:embed="rId6"/>
          <a:stretch>
            <a:fillRect/>
          </a:stretch>
        </p:blipFill>
        <p:spPr>
          <a:xfrm>
            <a:off x="6728153" y="3667323"/>
            <a:ext cx="4625165" cy="2621260"/>
          </a:xfrm>
          <a:prstGeom prst="rect">
            <a:avLst/>
          </a:prstGeom>
        </p:spPr>
      </p:pic>
      <p:sp>
        <p:nvSpPr>
          <p:cNvPr id="20" name="Text 14"/>
          <p:cNvSpPr/>
          <p:nvPr/>
        </p:nvSpPr>
        <p:spPr>
          <a:xfrm>
            <a:off x="609585" y="6676985"/>
            <a:ext cx="11582110" cy="189805"/>
          </a:xfrm>
          <a:prstGeom prst="rect">
            <a:avLst/>
          </a:prstGeom>
          <a:noFill/>
          <a:ln/>
        </p:spPr>
        <p:txBody>
          <a:bodyPr wrap="none" lIns="0" tIns="0" rIns="0" bIns="0" rtlCol="0" anchor="t"/>
          <a:lstStyle/>
          <a:p>
            <a:pPr marL="0" indent="0" algn="l">
              <a:lnSpc>
                <a:spcPct val="108000"/>
              </a:lnSpc>
              <a:buNone/>
            </a:pPr>
            <a:r>
              <a:rPr lang="en-US" sz="1150" kern="100" spc="6" dirty="0">
                <a:solidFill>
                  <a:srgbClr val="A9B6BB"/>
                </a:solidFill>
                <a:latin typeface="Red Hat Text" pitchFamily="34" charset="0"/>
                <a:ea typeface="Red Hat Text" pitchFamily="34" charset="-122"/>
                <a:cs typeface="Red Hat Text" pitchFamily="34" charset="-120"/>
              </a:rPr>
              <a:t>Each lower-order term is gated by equality above it. A lower bit cannot overturn an earlier difference.</a:t>
            </a:r>
            <a:endParaRPr lang="en-US" sz="1150" dirty="0"/>
          </a:p>
        </p:txBody>
      </p:sp>
      <p:pic>
        <p:nvPicPr>
          <p:cNvPr id="21" name="Image 4" descr="preencoded.png"/>
          <p:cNvPicPr>
            <a:picLocks noChangeAspect="1"/>
          </p:cNvPicPr>
          <p:nvPr/>
        </p:nvPicPr>
        <p:blipFill>
          <a:blip r:embed="rId7"/>
          <a:stretch>
            <a:fillRect/>
          </a:stretch>
        </p:blipFill>
        <p:spPr>
          <a:xfrm>
            <a:off x="11077000" y="6559252"/>
            <a:ext cx="1071833" cy="2559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09585" y="1839913"/>
            <a:ext cx="5333867" cy="3505200"/>
          </a:xfrm>
          <a:prstGeom prst="rect">
            <a:avLst/>
          </a:prstGeom>
          <a:solidFill>
            <a:srgbClr val="111A20"/>
          </a:solidFill>
          <a:ln/>
        </p:spPr>
      </p:sp>
      <p:sp>
        <p:nvSpPr>
          <p:cNvPr id="3" name="Shape 1"/>
          <p:cNvSpPr/>
          <p:nvPr/>
        </p:nvSpPr>
        <p:spPr>
          <a:xfrm>
            <a:off x="6248244" y="1839913"/>
            <a:ext cx="5333867" cy="3505200"/>
          </a:xfrm>
          <a:prstGeom prst="rect">
            <a:avLst/>
          </a:prstGeom>
          <a:solidFill>
            <a:srgbClr val="33393E"/>
          </a:solidFill>
          <a:ln/>
        </p:spPr>
      </p:sp>
      <p:pic>
        <p:nvPicPr>
          <p:cNvPr id="4" name="Image 0" descr="preencoded.png"/>
          <p:cNvPicPr>
            <a:picLocks noChangeAspect="1"/>
          </p:cNvPicPr>
          <p:nvPr/>
        </p:nvPicPr>
        <p:blipFill>
          <a:blip r:embed="rId3"/>
          <a:stretch>
            <a:fillRect/>
          </a:stretch>
        </p:blipFill>
        <p:spPr>
          <a:xfrm>
            <a:off x="11077000" y="6559252"/>
            <a:ext cx="1071833" cy="255984"/>
          </a:xfrm>
          <a:prstGeom prst="rect">
            <a:avLst/>
          </a:prstGeom>
        </p:spPr>
      </p:pic>
      <p:sp>
        <p:nvSpPr>
          <p:cNvPr id="5" name="Text 2"/>
          <p:cNvSpPr/>
          <p:nvPr/>
        </p:nvSpPr>
        <p:spPr>
          <a:xfrm>
            <a:off x="609585" y="630138"/>
            <a:ext cx="11582110" cy="206375"/>
          </a:xfrm>
          <a:prstGeom prst="rect">
            <a:avLst/>
          </a:prstGeom>
          <a:noFill/>
          <a:ln/>
        </p:spPr>
        <p:txBody>
          <a:bodyPr wrap="none" lIns="0" tIns="0" rIns="0" bIns="0" rtlCol="0" anchor="t"/>
          <a:lstStyle/>
          <a:p>
            <a:pPr marL="0" indent="0" algn="l">
              <a:lnSpc>
                <a:spcPct val="104000"/>
              </a:lnSpc>
              <a:buNone/>
            </a:pPr>
            <a:r>
              <a:rPr lang="en-US" sz="1300" kern="100" spc="104" dirty="0">
                <a:solidFill>
                  <a:srgbClr val="D3E6EE"/>
                </a:solidFill>
                <a:latin typeface="Red Hat Mono" pitchFamily="34" charset="0"/>
                <a:ea typeface="Red Hat Mono" pitchFamily="34" charset="-122"/>
                <a:cs typeface="Red Hat Mono" pitchFamily="34" charset="-120"/>
              </a:rPr>
              <a:t>WORKED COMPARISONS</a:t>
            </a:r>
            <a:endParaRPr lang="en-US" sz="1300" dirty="0"/>
          </a:p>
        </p:txBody>
      </p:sp>
      <p:sp>
        <p:nvSpPr>
          <p:cNvPr id="6" name="Text 3"/>
          <p:cNvSpPr/>
          <p:nvPr/>
        </p:nvSpPr>
        <p:spPr>
          <a:xfrm>
            <a:off x="609585" y="922385"/>
            <a:ext cx="10915377" cy="493713"/>
          </a:xfrm>
          <a:prstGeom prst="rect">
            <a:avLst/>
          </a:prstGeom>
          <a:noFill/>
          <a:ln/>
        </p:spPr>
        <p:txBody>
          <a:bodyPr wrap="none" lIns="0" tIns="0" rIns="0" bIns="0" rtlCol="0" anchor="t"/>
          <a:lstStyle/>
          <a:p>
            <a:pPr marL="0" indent="0" algn="l">
              <a:lnSpc>
                <a:spcPct val="90000"/>
              </a:lnSpc>
              <a:buNone/>
            </a:pPr>
            <a:r>
              <a:rPr lang="en-US" sz="3600" b="1" kern="100" spc="-36" dirty="0">
                <a:solidFill>
                  <a:srgbClr val="F4B23E"/>
                </a:solidFill>
                <a:latin typeface="Playfair Display Bold" pitchFamily="34" charset="0"/>
                <a:ea typeface="Playfair Display Bold" pitchFamily="34" charset="-122"/>
                <a:cs typeface="Playfair Display Bold" pitchFamily="34" charset="-120"/>
              </a:rPr>
              <a:t>How one comparison resolves</a:t>
            </a:r>
            <a:endParaRPr lang="en-US" sz="3600" dirty="0"/>
          </a:p>
        </p:txBody>
      </p:sp>
      <p:sp>
        <p:nvSpPr>
          <p:cNvPr id="7" name="Text 4"/>
          <p:cNvSpPr/>
          <p:nvPr/>
        </p:nvSpPr>
        <p:spPr>
          <a:xfrm>
            <a:off x="838179" y="2089051"/>
            <a:ext cx="5105272" cy="206375"/>
          </a:xfrm>
          <a:prstGeom prst="rect">
            <a:avLst/>
          </a:prstGeom>
          <a:noFill/>
          <a:ln/>
        </p:spPr>
        <p:txBody>
          <a:bodyPr wrap="none" lIns="0" tIns="0" rIns="0" bIns="0" rtlCol="0" anchor="t"/>
          <a:lstStyle/>
          <a:p>
            <a:pPr marL="0" indent="0" algn="l">
              <a:lnSpc>
                <a:spcPct val="104000"/>
              </a:lnSpc>
              <a:buNone/>
            </a:pPr>
            <a:r>
              <a:rPr lang="en-US" sz="1300" kern="100" spc="104" dirty="0">
                <a:solidFill>
                  <a:srgbClr val="FFFFFF"/>
                </a:solidFill>
                <a:latin typeface="Red Hat Mono" pitchFamily="34" charset="0"/>
                <a:ea typeface="Red Hat Mono" pitchFamily="34" charset="-122"/>
                <a:cs typeface="Red Hat Mono" pitchFamily="34" charset="-120"/>
              </a:rPr>
              <a:t>GREATER-THAN CASE</a:t>
            </a:r>
            <a:endParaRPr lang="en-US" sz="1300" dirty="0"/>
          </a:p>
        </p:txBody>
      </p:sp>
      <p:sp>
        <p:nvSpPr>
          <p:cNvPr id="8" name="Text 5"/>
          <p:cNvSpPr/>
          <p:nvPr/>
        </p:nvSpPr>
        <p:spPr>
          <a:xfrm>
            <a:off x="838179" y="2545321"/>
            <a:ext cx="4819529" cy="725388"/>
          </a:xfrm>
          <a:prstGeom prst="rect">
            <a:avLst/>
          </a:prstGeom>
          <a:noFill/>
          <a:ln/>
        </p:spPr>
        <p:txBody>
          <a:bodyPr wrap="none" lIns="0" tIns="0" rIns="0" bIns="0" rtlCol="0" anchor="t"/>
          <a:lstStyle/>
          <a:p>
            <a:pPr marL="0" indent="0" algn="l">
              <a:lnSpc>
                <a:spcPct val="85000"/>
              </a:lnSpc>
              <a:buNone/>
            </a:pPr>
            <a:r>
              <a:rPr lang="en-US" sz="5600" b="1" kern="100" spc="-168" dirty="0">
                <a:solidFill>
                  <a:srgbClr val="FFFFFF"/>
                </a:solidFill>
                <a:latin typeface="Playfair Display Bold" pitchFamily="34" charset="0"/>
                <a:ea typeface="Playfair Display Bold" pitchFamily="34" charset="-122"/>
                <a:cs typeface="Playfair Display Bold" pitchFamily="34" charset="-120"/>
              </a:rPr>
              <a:t>1010</a:t>
            </a:r>
            <a:endParaRPr lang="en-US" sz="5600" dirty="0"/>
          </a:p>
        </p:txBody>
      </p:sp>
      <p:sp>
        <p:nvSpPr>
          <p:cNvPr id="9" name="Text 6"/>
          <p:cNvSpPr/>
          <p:nvPr/>
        </p:nvSpPr>
        <p:spPr>
          <a:xfrm>
            <a:off x="838179" y="3310330"/>
            <a:ext cx="4876678" cy="665956"/>
          </a:xfrm>
          <a:prstGeom prst="rect">
            <a:avLst/>
          </a:prstGeom>
          <a:noFill/>
          <a:ln/>
        </p:spPr>
        <p:txBody>
          <a:bodyPr wrap="square" lIns="0" tIns="0" rIns="0" bIns="0" rtlCol="0" anchor="t">
            <a:normAutofit/>
          </a:bodyPr>
          <a:lstStyle/>
          <a:p>
            <a:pPr marL="0" indent="0" algn="l">
              <a:lnSpc>
                <a:spcPct val="115000"/>
              </a:lnSpc>
              <a:buNone/>
            </a:pPr>
            <a:r>
              <a:rPr lang="en-US" sz="1900" dirty="0">
                <a:solidFill>
                  <a:srgbClr val="FFFFFF"/>
                </a:solidFill>
                <a:latin typeface="Red Hat Text" pitchFamily="34" charset="0"/>
                <a:ea typeface="Red Hat Text" pitchFamily="34" charset="-122"/>
                <a:cs typeface="Red Hat Text" pitchFamily="34" charset="-120"/>
              </a:rPr>
              <a:t>A = 1010</a:t>
            </a:r>
            <a:endParaRPr lang="en-US" sz="1900" dirty="0"/>
          </a:p>
          <a:p>
            <a:pPr marL="0" indent="0" algn="l">
              <a:lnSpc>
                <a:spcPct val="115000"/>
              </a:lnSpc>
              <a:buNone/>
            </a:pPr>
            <a:r>
              <a:rPr lang="en-US" sz="1900" dirty="0">
                <a:solidFill>
                  <a:srgbClr val="FFFFFF"/>
                </a:solidFill>
                <a:latin typeface="Red Hat Text" pitchFamily="34" charset="0"/>
                <a:ea typeface="Red Hat Text" pitchFamily="34" charset="-122"/>
                <a:cs typeface="Red Hat Text" pitchFamily="34" charset="-120"/>
              </a:rPr>
              <a:t>B = 0110</a:t>
            </a:r>
            <a:endParaRPr lang="en-US" sz="1900" dirty="0"/>
          </a:p>
        </p:txBody>
      </p:sp>
      <p:sp>
        <p:nvSpPr>
          <p:cNvPr id="10" name="Shape 7"/>
          <p:cNvSpPr/>
          <p:nvPr/>
        </p:nvSpPr>
        <p:spPr>
          <a:xfrm>
            <a:off x="838179" y="4201220"/>
            <a:ext cx="1609089" cy="50602"/>
          </a:xfrm>
          <a:prstGeom prst="roundRect">
            <a:avLst>
              <a:gd name="adj" fmla="val 49998"/>
            </a:avLst>
          </a:prstGeom>
          <a:solidFill>
            <a:srgbClr val="F4B23E"/>
          </a:solidFill>
          <a:ln/>
        </p:spPr>
      </p:sp>
      <p:sp>
        <p:nvSpPr>
          <p:cNvPr id="11" name="Text 8"/>
          <p:cNvSpPr/>
          <p:nvPr/>
        </p:nvSpPr>
        <p:spPr>
          <a:xfrm>
            <a:off x="838179" y="4423962"/>
            <a:ext cx="4819529" cy="665956"/>
          </a:xfrm>
          <a:prstGeom prst="rect">
            <a:avLst/>
          </a:prstGeom>
          <a:noFill/>
          <a:ln/>
        </p:spPr>
        <p:txBody>
          <a:bodyPr wrap="square" lIns="0" tIns="0" rIns="0" bIns="0" rtlCol="0" anchor="t">
            <a:normAutofit/>
          </a:bodyPr>
          <a:lstStyle/>
          <a:p>
            <a:pPr marL="0" indent="0" algn="l">
              <a:lnSpc>
                <a:spcPct val="115000"/>
              </a:lnSpc>
              <a:buNone/>
            </a:pPr>
            <a:r>
              <a:rPr lang="en-US" sz="1900" b="1" dirty="0">
                <a:solidFill>
                  <a:srgbClr val="FFFFFF"/>
                </a:solidFill>
                <a:latin typeface="Red Hat Text Bold" pitchFamily="34" charset="0"/>
                <a:ea typeface="Red Hat Text Bold" pitchFamily="34" charset="-122"/>
                <a:cs typeface="Red Hat Text Bold" pitchFamily="34" charset="-120"/>
              </a:rPr>
              <a:t>A3=1</a:t>
            </a:r>
            <a:r>
              <a:rPr lang="en-US" sz="1900" dirty="0">
                <a:solidFill>
                  <a:srgbClr val="FFFFFF"/>
                </a:solidFill>
                <a:latin typeface="Red Hat Text" pitchFamily="34" charset="0"/>
                <a:ea typeface="Red Hat Text" pitchFamily="34" charset="-122"/>
                <a:cs typeface="Red Hat Text" pitchFamily="34" charset="-120"/>
              </a:rPr>
              <a:t> and </a:t>
            </a:r>
            <a:r>
              <a:rPr lang="en-US" sz="1900" b="1" dirty="0">
                <a:solidFill>
                  <a:srgbClr val="FFFFFF"/>
                </a:solidFill>
                <a:latin typeface="Red Hat Text Bold" pitchFamily="34" charset="0"/>
                <a:ea typeface="Red Hat Text Bold" pitchFamily="34" charset="-122"/>
                <a:cs typeface="Red Hat Text Bold" pitchFamily="34" charset="-120"/>
              </a:rPr>
              <a:t>B3=0</a:t>
            </a:r>
            <a:r>
              <a:rPr lang="en-US" sz="1900" dirty="0">
                <a:solidFill>
                  <a:srgbClr val="FFFFFF"/>
                </a:solidFill>
                <a:latin typeface="Red Hat Text" pitchFamily="34" charset="0"/>
                <a:ea typeface="Red Hat Text" pitchFamily="34" charset="-122"/>
                <a:cs typeface="Red Hat Text" pitchFamily="34" charset="-120"/>
              </a:rPr>
              <a:t>. The first pair differs, so </a:t>
            </a:r>
            <a:r>
              <a:rPr lang="en-US" sz="1900" b="1" dirty="0">
                <a:solidFill>
                  <a:srgbClr val="FFFFFF"/>
                </a:solidFill>
                <a:latin typeface="Red Hat Text Bold" pitchFamily="34" charset="0"/>
                <a:ea typeface="Red Hat Text Bold" pitchFamily="34" charset="-122"/>
                <a:cs typeface="Red Hat Text Bold" pitchFamily="34" charset="-120"/>
              </a:rPr>
              <a:t>A&gt;B</a:t>
            </a:r>
            <a:r>
              <a:rPr lang="en-US" sz="1900" dirty="0">
                <a:solidFill>
                  <a:srgbClr val="FFFFFF"/>
                </a:solidFill>
                <a:latin typeface="Red Hat Text" pitchFamily="34" charset="0"/>
                <a:ea typeface="Red Hat Text" pitchFamily="34" charset="-122"/>
                <a:cs typeface="Red Hat Text" pitchFamily="34" charset="-120"/>
              </a:rPr>
              <a:t> is high immediately.</a:t>
            </a:r>
            <a:endParaRPr lang="en-US" sz="1900" dirty="0"/>
          </a:p>
        </p:txBody>
      </p:sp>
      <p:sp>
        <p:nvSpPr>
          <p:cNvPr id="12" name="Text 9"/>
          <p:cNvSpPr/>
          <p:nvPr/>
        </p:nvSpPr>
        <p:spPr>
          <a:xfrm>
            <a:off x="6476838" y="2089051"/>
            <a:ext cx="5105272" cy="206375"/>
          </a:xfrm>
          <a:prstGeom prst="rect">
            <a:avLst/>
          </a:prstGeom>
          <a:noFill/>
          <a:ln/>
        </p:spPr>
        <p:txBody>
          <a:bodyPr wrap="none" lIns="0" tIns="0" rIns="0" bIns="0" rtlCol="0" anchor="t"/>
          <a:lstStyle/>
          <a:p>
            <a:pPr marL="0" indent="0" algn="l">
              <a:lnSpc>
                <a:spcPct val="104000"/>
              </a:lnSpc>
              <a:buNone/>
            </a:pPr>
            <a:r>
              <a:rPr lang="en-US" sz="1300" kern="100" spc="104" dirty="0">
                <a:solidFill>
                  <a:srgbClr val="E4E9EB"/>
                </a:solidFill>
                <a:latin typeface="Red Hat Mono" pitchFamily="34" charset="0"/>
                <a:ea typeface="Red Hat Mono" pitchFamily="34" charset="-122"/>
                <a:cs typeface="Red Hat Mono" pitchFamily="34" charset="-120"/>
              </a:rPr>
              <a:t>EQUALITY CASE</a:t>
            </a:r>
            <a:endParaRPr lang="en-US" sz="1300" dirty="0"/>
          </a:p>
        </p:txBody>
      </p:sp>
      <p:sp>
        <p:nvSpPr>
          <p:cNvPr id="13" name="Text 10"/>
          <p:cNvSpPr/>
          <p:nvPr/>
        </p:nvSpPr>
        <p:spPr>
          <a:xfrm>
            <a:off x="6476838" y="2545321"/>
            <a:ext cx="4819529" cy="725388"/>
          </a:xfrm>
          <a:prstGeom prst="rect">
            <a:avLst/>
          </a:prstGeom>
          <a:noFill/>
          <a:ln/>
        </p:spPr>
        <p:txBody>
          <a:bodyPr wrap="none" lIns="0" tIns="0" rIns="0" bIns="0" rtlCol="0" anchor="t"/>
          <a:lstStyle/>
          <a:p>
            <a:pPr marL="0" indent="0" algn="l">
              <a:lnSpc>
                <a:spcPct val="85000"/>
              </a:lnSpc>
              <a:buNone/>
            </a:pPr>
            <a:r>
              <a:rPr lang="en-US" sz="5600" b="1" kern="100" spc="-168" dirty="0">
                <a:solidFill>
                  <a:srgbClr val="E4E9EB"/>
                </a:solidFill>
                <a:latin typeface="Playfair Display Bold" pitchFamily="34" charset="0"/>
                <a:ea typeface="Playfair Display Bold" pitchFamily="34" charset="-122"/>
                <a:cs typeface="Playfair Display Bold" pitchFamily="34" charset="-120"/>
              </a:rPr>
              <a:t>1101</a:t>
            </a:r>
            <a:endParaRPr lang="en-US" sz="5600" dirty="0"/>
          </a:p>
        </p:txBody>
      </p:sp>
      <p:sp>
        <p:nvSpPr>
          <p:cNvPr id="14" name="Text 11"/>
          <p:cNvSpPr/>
          <p:nvPr/>
        </p:nvSpPr>
        <p:spPr>
          <a:xfrm>
            <a:off x="6476838" y="3310330"/>
            <a:ext cx="4876678" cy="665956"/>
          </a:xfrm>
          <a:prstGeom prst="rect">
            <a:avLst/>
          </a:prstGeom>
          <a:noFill/>
          <a:ln/>
        </p:spPr>
        <p:txBody>
          <a:bodyPr wrap="square" lIns="0" tIns="0" rIns="0" bIns="0" rtlCol="0" anchor="t">
            <a:normAutofit/>
          </a:bodyPr>
          <a:lstStyle/>
          <a:p>
            <a:pPr marL="0" indent="0" algn="l">
              <a:lnSpc>
                <a:spcPct val="115000"/>
              </a:lnSpc>
              <a:buNone/>
            </a:pPr>
            <a:r>
              <a:rPr lang="en-US" sz="1900" dirty="0">
                <a:solidFill>
                  <a:srgbClr val="E4E9EB"/>
                </a:solidFill>
                <a:latin typeface="Red Hat Text" pitchFamily="34" charset="0"/>
                <a:ea typeface="Red Hat Text" pitchFamily="34" charset="-122"/>
                <a:cs typeface="Red Hat Text" pitchFamily="34" charset="-120"/>
              </a:rPr>
              <a:t>A = 1101</a:t>
            </a:r>
            <a:endParaRPr lang="en-US" sz="1900" dirty="0"/>
          </a:p>
          <a:p>
            <a:pPr marL="0" indent="0" algn="l">
              <a:lnSpc>
                <a:spcPct val="115000"/>
              </a:lnSpc>
              <a:buNone/>
            </a:pPr>
            <a:r>
              <a:rPr lang="en-US" sz="1900" dirty="0">
                <a:solidFill>
                  <a:srgbClr val="E4E9EB"/>
                </a:solidFill>
                <a:latin typeface="Red Hat Text" pitchFamily="34" charset="0"/>
                <a:ea typeface="Red Hat Text" pitchFamily="34" charset="-122"/>
                <a:cs typeface="Red Hat Text" pitchFamily="34" charset="-120"/>
              </a:rPr>
              <a:t>B = 1101</a:t>
            </a:r>
            <a:endParaRPr lang="en-US" sz="1900" dirty="0"/>
          </a:p>
        </p:txBody>
      </p:sp>
      <p:sp>
        <p:nvSpPr>
          <p:cNvPr id="15" name="Shape 12"/>
          <p:cNvSpPr/>
          <p:nvPr/>
        </p:nvSpPr>
        <p:spPr>
          <a:xfrm>
            <a:off x="6476838" y="4201220"/>
            <a:ext cx="1609089" cy="50602"/>
          </a:xfrm>
          <a:prstGeom prst="roundRect">
            <a:avLst>
              <a:gd name="adj" fmla="val 49998"/>
            </a:avLst>
          </a:prstGeom>
          <a:solidFill>
            <a:srgbClr val="F4B23E"/>
          </a:solidFill>
          <a:ln/>
        </p:spPr>
      </p:sp>
      <p:sp>
        <p:nvSpPr>
          <p:cNvPr id="16" name="Text 13"/>
          <p:cNvSpPr/>
          <p:nvPr/>
        </p:nvSpPr>
        <p:spPr>
          <a:xfrm>
            <a:off x="6476838" y="4423962"/>
            <a:ext cx="4819529" cy="665956"/>
          </a:xfrm>
          <a:prstGeom prst="rect">
            <a:avLst/>
          </a:prstGeom>
          <a:noFill/>
          <a:ln/>
        </p:spPr>
        <p:txBody>
          <a:bodyPr wrap="square" lIns="0" tIns="0" rIns="0" bIns="0" rtlCol="0" anchor="t">
            <a:normAutofit/>
          </a:bodyPr>
          <a:lstStyle/>
          <a:p>
            <a:pPr marL="0" indent="0" algn="l">
              <a:lnSpc>
                <a:spcPct val="115000"/>
              </a:lnSpc>
              <a:buNone/>
            </a:pPr>
            <a:r>
              <a:rPr lang="en-US" sz="1900" dirty="0">
                <a:solidFill>
                  <a:srgbClr val="E4E9EB"/>
                </a:solidFill>
                <a:latin typeface="Red Hat Text" pitchFamily="34" charset="0"/>
                <a:ea typeface="Red Hat Text" pitchFamily="34" charset="-122"/>
                <a:cs typeface="Red Hat Text" pitchFamily="34" charset="-120"/>
              </a:rPr>
              <a:t>All four pairs match, so </a:t>
            </a:r>
            <a:r>
              <a:rPr lang="en-US" sz="1900" b="1" dirty="0">
                <a:solidFill>
                  <a:srgbClr val="E4E9EB"/>
                </a:solidFill>
                <a:latin typeface="Red Hat Text Bold" pitchFamily="34" charset="0"/>
                <a:ea typeface="Red Hat Text Bold" pitchFamily="34" charset="-122"/>
                <a:cs typeface="Red Hat Text Bold" pitchFamily="34" charset="-120"/>
              </a:rPr>
              <a:t>A=B</a:t>
            </a:r>
            <a:r>
              <a:rPr lang="en-US" sz="1900" dirty="0">
                <a:solidFill>
                  <a:srgbClr val="E4E9EB"/>
                </a:solidFill>
                <a:latin typeface="Red Hat Text" pitchFamily="34" charset="0"/>
                <a:ea typeface="Red Hat Text" pitchFamily="34" charset="-122"/>
                <a:cs typeface="Red Hat Text" pitchFamily="34" charset="-120"/>
              </a:rPr>
              <a:t> is high. </a:t>
            </a:r>
            <a:r>
              <a:rPr lang="en-US" sz="1900" b="1" dirty="0">
                <a:solidFill>
                  <a:srgbClr val="E4E9EB"/>
                </a:solidFill>
                <a:latin typeface="Red Hat Text Bold" pitchFamily="34" charset="0"/>
                <a:ea typeface="Red Hat Text Bold" pitchFamily="34" charset="-122"/>
                <a:cs typeface="Red Hat Text Bold" pitchFamily="34" charset="-120"/>
              </a:rPr>
              <a:t>A&gt;B</a:t>
            </a:r>
            <a:r>
              <a:rPr lang="en-US" sz="1900" dirty="0">
                <a:solidFill>
                  <a:srgbClr val="E4E9EB"/>
                </a:solidFill>
                <a:latin typeface="Red Hat Text" pitchFamily="34" charset="0"/>
                <a:ea typeface="Red Hat Text" pitchFamily="34" charset="-122"/>
                <a:cs typeface="Red Hat Text" pitchFamily="34" charset="-120"/>
              </a:rPr>
              <a:t> and </a:t>
            </a:r>
            <a:r>
              <a:rPr lang="en-US" sz="1900" b="1" dirty="0">
                <a:solidFill>
                  <a:srgbClr val="E4E9EB"/>
                </a:solidFill>
                <a:latin typeface="Red Hat Text Bold" pitchFamily="34" charset="0"/>
                <a:ea typeface="Red Hat Text Bold" pitchFamily="34" charset="-122"/>
                <a:cs typeface="Red Hat Text Bold" pitchFamily="34" charset="-120"/>
              </a:rPr>
              <a:t>A&lt;B</a:t>
            </a:r>
            <a:r>
              <a:rPr lang="en-US" sz="1900" dirty="0">
                <a:solidFill>
                  <a:srgbClr val="E4E9EB"/>
                </a:solidFill>
                <a:latin typeface="Red Hat Text" pitchFamily="34" charset="0"/>
                <a:ea typeface="Red Hat Text" pitchFamily="34" charset="-122"/>
                <a:cs typeface="Red Hat Text" pitchFamily="34" charset="-120"/>
              </a:rPr>
              <a:t> stay low.</a:t>
            </a:r>
            <a:endParaRPr lang="en-US" sz="1900" dirty="0"/>
          </a:p>
        </p:txBody>
      </p:sp>
      <p:pic>
        <p:nvPicPr>
          <p:cNvPr id="17" name="Image 1" descr="preencoded.png"/>
          <p:cNvPicPr>
            <a:picLocks noChangeAspect="1"/>
          </p:cNvPicPr>
          <p:nvPr/>
        </p:nvPicPr>
        <p:blipFill>
          <a:blip r:embed="rId4"/>
          <a:stretch>
            <a:fillRect/>
          </a:stretch>
        </p:blipFill>
        <p:spPr>
          <a:xfrm>
            <a:off x="609585" y="5561013"/>
            <a:ext cx="2151406" cy="1219002"/>
          </a:xfrm>
          <a:prstGeom prst="rect">
            <a:avLst/>
          </a:prstGeom>
        </p:spPr>
      </p:pic>
      <p:sp>
        <p:nvSpPr>
          <p:cNvPr id="18" name="Text 14"/>
          <p:cNvSpPr/>
          <p:nvPr/>
        </p:nvSpPr>
        <p:spPr>
          <a:xfrm>
            <a:off x="6248244" y="5538946"/>
            <a:ext cx="5276718" cy="462161"/>
          </a:xfrm>
          <a:prstGeom prst="rect">
            <a:avLst/>
          </a:prstGeom>
          <a:noFill/>
          <a:ln/>
        </p:spPr>
        <p:txBody>
          <a:bodyPr wrap="square" lIns="0" tIns="0" rIns="0" bIns="0" rtlCol="0" anchor="t">
            <a:normAutofit/>
          </a:bodyPr>
          <a:lstStyle/>
          <a:p>
            <a:pPr marL="0" indent="0" algn="l">
              <a:lnSpc>
                <a:spcPct val="108000"/>
              </a:lnSpc>
              <a:buNone/>
            </a:pPr>
            <a:r>
              <a:rPr lang="en-US" sz="1400" kern="100" spc="7" dirty="0">
                <a:solidFill>
                  <a:srgbClr val="A9B6BB"/>
                </a:solidFill>
                <a:latin typeface="Red Hat Text" pitchFamily="34" charset="0"/>
                <a:ea typeface="Red Hat Text" pitchFamily="34" charset="-122"/>
                <a:cs typeface="Red Hat Text" pitchFamily="34" charset="-120"/>
              </a:rPr>
              <a:t>The leftmost unequal pair determines the result. Once it speaks, the remaining bits are irrelevant.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22498"/>
            <a:ext cx="7765856" cy="182563"/>
          </a:xfrm>
          <a:prstGeom prst="rect">
            <a:avLst/>
          </a:prstGeom>
          <a:noFill/>
          <a:ln/>
        </p:spPr>
        <p:txBody>
          <a:bodyPr wrap="none" lIns="0" tIns="0" rIns="0" bIns="0" rtlCol="0" anchor="t"/>
          <a:lstStyle/>
          <a:p>
            <a:pPr marL="0" indent="0" algn="l">
              <a:lnSpc>
                <a:spcPct val="104000"/>
              </a:lnSpc>
              <a:buNone/>
            </a:pPr>
            <a:r>
              <a:rPr lang="en-US" sz="1150" kern="100" spc="93" dirty="0">
                <a:solidFill>
                  <a:srgbClr val="D3E6EE"/>
                </a:solidFill>
                <a:latin typeface="Red Hat Mono" pitchFamily="34" charset="0"/>
                <a:ea typeface="Red Hat Mono" pitchFamily="34" charset="-122"/>
                <a:cs typeface="Red Hat Mono" pitchFamily="34" charset="-120"/>
              </a:rPr>
              <a:t>FROM FLAGS TO ACTIONS</a:t>
            </a:r>
            <a:endParaRPr lang="en-US" sz="1150" dirty="0"/>
          </a:p>
        </p:txBody>
      </p:sp>
      <p:sp>
        <p:nvSpPr>
          <p:cNvPr id="3" name="Text 1"/>
          <p:cNvSpPr/>
          <p:nvPr/>
        </p:nvSpPr>
        <p:spPr>
          <a:xfrm>
            <a:off x="609585" y="881034"/>
            <a:ext cx="6603835" cy="877689"/>
          </a:xfrm>
          <a:prstGeom prst="rect">
            <a:avLst/>
          </a:prstGeom>
          <a:noFill/>
          <a:ln/>
        </p:spPr>
        <p:txBody>
          <a:bodyPr wrap="square" lIns="0" tIns="0" rIns="0" bIns="0" rtlCol="0" anchor="t">
            <a:normAutofit lnSpcReduction="10000"/>
          </a:bodyPr>
          <a:lstStyle/>
          <a:p>
            <a:pPr marL="0" indent="0" algn="l">
              <a:lnSpc>
                <a:spcPct val="90000"/>
              </a:lnSpc>
              <a:buNone/>
            </a:pPr>
            <a:r>
              <a:rPr lang="en-US" sz="3200" b="1" kern="100" spc="-32" dirty="0">
                <a:solidFill>
                  <a:srgbClr val="F4B23E"/>
                </a:solidFill>
                <a:latin typeface="Playfair Display Bold" pitchFamily="34" charset="0"/>
                <a:ea typeface="Playfair Display Bold" pitchFamily="34" charset="-122"/>
                <a:cs typeface="Playfair Display Bold" pitchFamily="34" charset="-120"/>
              </a:rPr>
              <a:t>Where magnitude comparators are used</a:t>
            </a:r>
            <a:endParaRPr lang="en-US" sz="3200" dirty="0"/>
          </a:p>
        </p:txBody>
      </p:sp>
      <p:pic>
        <p:nvPicPr>
          <p:cNvPr id="4" name="Image 0" descr="preencoded.png"/>
          <p:cNvPicPr>
            <a:picLocks noChangeAspect="1"/>
          </p:cNvPicPr>
          <p:nvPr/>
        </p:nvPicPr>
        <p:blipFill>
          <a:blip r:embed="rId3"/>
          <a:stretch>
            <a:fillRect/>
          </a:stretch>
        </p:blipFill>
        <p:spPr>
          <a:xfrm>
            <a:off x="11077000" y="6559252"/>
            <a:ext cx="1071833" cy="255984"/>
          </a:xfrm>
          <a:prstGeom prst="rect">
            <a:avLst/>
          </a:prstGeom>
        </p:spPr>
      </p:pic>
      <p:sp>
        <p:nvSpPr>
          <p:cNvPr id="5" name="Text 2"/>
          <p:cNvSpPr/>
          <p:nvPr/>
        </p:nvSpPr>
        <p:spPr>
          <a:xfrm>
            <a:off x="609585" y="2115082"/>
            <a:ext cx="6546686" cy="565547"/>
          </a:xfrm>
          <a:prstGeom prst="rect">
            <a:avLst/>
          </a:prstGeom>
          <a:noFill/>
          <a:ln/>
        </p:spPr>
        <p:txBody>
          <a:bodyPr wrap="square" lIns="0" tIns="0" rIns="0" bIns="0" rtlCol="0" anchor="t">
            <a:normAutofit/>
          </a:bodyPr>
          <a:lstStyle/>
          <a:p>
            <a:pPr marL="0" indent="0" algn="l">
              <a:lnSpc>
                <a:spcPct val="109000"/>
              </a:lnSpc>
              <a:buNone/>
            </a:pPr>
            <a:r>
              <a:rPr lang="en-US" sz="1700" dirty="0">
                <a:solidFill>
                  <a:srgbClr val="E4E9EB"/>
                </a:solidFill>
                <a:latin typeface="Red Hat Text" pitchFamily="34" charset="0"/>
                <a:ea typeface="Red Hat Text" pitchFamily="34" charset="-122"/>
                <a:cs typeface="Red Hat Text" pitchFamily="34" charset="-120"/>
              </a:rPr>
              <a:t>Three mutually exclusive outputs become control decisions elsewhere in a digital system.</a:t>
            </a:r>
            <a:endParaRPr lang="en-US" sz="1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09585" y="2875855"/>
          <a:ext cx="6603835" cy="914400"/>
        </p:xfrm>
        <a:graphic>
          <a:graphicData uri="http://schemas.openxmlformats.org/drawingml/2006/table">
            <a:tbl>
              <a:tblPr/>
              <a:tblGrid>
                <a:gridCol w="660344">
                  <a:extLst>
                    <a:ext uri="{9D8B030D-6E8A-4147-A177-3AD203B41FA5}">
                      <a16:colId xmlns:a16="http://schemas.microsoft.com/office/drawing/2014/main" val="20000"/>
                    </a:ext>
                  </a:extLst>
                </a:gridCol>
                <a:gridCol w="2113199">
                  <a:extLst>
                    <a:ext uri="{9D8B030D-6E8A-4147-A177-3AD203B41FA5}">
                      <a16:colId xmlns:a16="http://schemas.microsoft.com/office/drawing/2014/main" val="20001"/>
                    </a:ext>
                  </a:extLst>
                </a:gridCol>
                <a:gridCol w="3830292">
                  <a:extLst>
                    <a:ext uri="{9D8B030D-6E8A-4147-A177-3AD203B41FA5}">
                      <a16:colId xmlns:a16="http://schemas.microsoft.com/office/drawing/2014/main" val="20002"/>
                    </a:ext>
                  </a:extLst>
                </a:gridCol>
              </a:tblGrid>
              <a:tr h="748884">
                <a:tc>
                  <a:txBody>
                    <a:bodyPr/>
                    <a:lstStyle/>
                    <a:p>
                      <a:pPr marL="0" indent="0">
                        <a:buNone/>
                      </a:pPr>
                      <a:endParaRPr lang="en-US" sz="1800" dirty="0">
                        <a:latin typeface="Red Hat Text" charset="0"/>
                        <a:ea typeface="Red Hat Text" charset="0"/>
                        <a:cs typeface="Red Hat Text" charset="0"/>
                      </a:endParaRPr>
                    </a:p>
                  </a:txBody>
                  <a:tcPr marL="161794" marR="161794" marT="238500" marB="238500" anchor="ctr">
                    <a:lnL w="12700" cap="flat" cmpd="sng" algn="ctr">
                      <a:solidFill>
                        <a:srgbClr val="3F474C"/>
                      </a:solidFill>
                      <a:prstDash val="solid"/>
                      <a:round/>
                      <a:headEnd type="none" w="med" len="med"/>
                      <a:tailEnd type="none" w="med" len="med"/>
                    </a:lnL>
                    <a:lnR w="12700" cap="flat" cmpd="sng" algn="ctr">
                      <a:solidFill>
                        <a:srgbClr val="2A2E32"/>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700" dirty="0">
                          <a:solidFill>
                            <a:srgbClr val="D3E6EE"/>
                          </a:solidFill>
                          <a:latin typeface="Red Hat Text" pitchFamily="34" charset="0"/>
                          <a:ea typeface="Red Hat Text" pitchFamily="34" charset="-122"/>
                          <a:cs typeface="Red Hat Text" pitchFamily="34" charset="-120"/>
                        </a:rPr>
                        <a:t>Signal → decision</a:t>
                      </a:r>
                      <a:endParaRPr lang="en-US" sz="1700" dirty="0">
                        <a:latin typeface="Red Hat Text" charset="0"/>
                        <a:ea typeface="Red Hat Text" charset="0"/>
                        <a:cs typeface="Red Hat Text" charset="0"/>
                      </a:endParaRPr>
                    </a:p>
                  </a:txBody>
                  <a:tcPr marL="161794" marR="161794" marT="238500" marB="238500" anchor="ctr">
                    <a:lnL w="12700" cap="flat" cmpd="sng" algn="ctr">
                      <a:solidFill>
                        <a:srgbClr val="2A2E32"/>
                      </a:solidFill>
                      <a:prstDash val="solid"/>
                      <a:round/>
                      <a:headEnd type="none" w="med" len="med"/>
                      <a:tailEnd type="none" w="med" len="med"/>
                    </a:lnL>
                    <a:lnR w="12700" cap="flat" cmpd="sng" algn="ctr">
                      <a:solidFill>
                        <a:srgbClr val="2A2E32"/>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700" dirty="0">
                          <a:solidFill>
                            <a:srgbClr val="D3E6EE"/>
                          </a:solidFill>
                          <a:latin typeface="Red Hat Text" pitchFamily="34" charset="0"/>
                          <a:ea typeface="Red Hat Text" pitchFamily="34" charset="-122"/>
                          <a:cs typeface="Red Hat Text" pitchFamily="34" charset="-120"/>
                        </a:rPr>
                        <a:t>Application</a:t>
                      </a:r>
                      <a:endParaRPr lang="en-US" sz="1700" dirty="0">
                        <a:latin typeface="Red Hat Text" charset="0"/>
                        <a:ea typeface="Red Hat Text" charset="0"/>
                        <a:cs typeface="Red Hat Text" charset="0"/>
                      </a:endParaRPr>
                    </a:p>
                  </a:txBody>
                  <a:tcPr marL="161794" marR="161794" marT="238500" marB="238500" anchor="ctr">
                    <a:lnL w="12700" cap="flat" cmpd="sng" algn="ctr">
                      <a:solidFill>
                        <a:srgbClr val="2A2E32"/>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extLst>
                  <a:ext uri="{0D108BD9-81ED-4DB2-BD59-A6C34878D82A}">
                    <a16:rowId xmlns:a16="http://schemas.microsoft.com/office/drawing/2014/main" val="10000"/>
                  </a:ext>
                </a:extLst>
              </a:tr>
              <a:tr h="669214">
                <a:tc>
                  <a:txBody>
                    <a:bodyPr/>
                    <a:lstStyle/>
                    <a:p>
                      <a:pPr marL="0" indent="0">
                        <a:buNone/>
                      </a:pPr>
                      <a:endParaRPr lang="en-US" sz="1800" dirty="0">
                        <a:latin typeface="Red Hat Text" charset="0"/>
                        <a:ea typeface="Red Hat Text" charset="0"/>
                        <a:cs typeface="Red Hat Text" charset="0"/>
                      </a:endParaRPr>
                    </a:p>
                  </a:txBody>
                  <a:tcPr marL="161794" marR="161794" marT="198750" marB="198750" anchor="ctr">
                    <a:lnL w="12700" cap="flat" cmpd="sng" algn="ctr">
                      <a:solidFill>
                        <a:srgbClr val="3F474C"/>
                      </a:solidFill>
                      <a:prstDash val="solid"/>
                      <a:round/>
                      <a:headEnd type="none" w="med" len="med"/>
                      <a:tailEnd type="none" w="med" len="med"/>
                    </a:lnL>
                    <a:lnR w="12700" cap="flat" cmpd="sng" algn="ctr">
                      <a:solidFill>
                        <a:srgbClr val="2A2E32"/>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700" b="1" dirty="0">
                          <a:solidFill>
                            <a:srgbClr val="E4E9EB"/>
                          </a:solidFill>
                          <a:latin typeface="Red Hat Text" pitchFamily="34" charset="0"/>
                          <a:ea typeface="Red Hat Text" pitchFamily="34" charset="-122"/>
                          <a:cs typeface="Red Hat Text" pitchFamily="34" charset="-120"/>
                        </a:rPr>
                        <a:t>A&gt;B → Branch</a:t>
                      </a:r>
                      <a:endParaRPr lang="en-US" sz="1700" dirty="0">
                        <a:latin typeface="Red Hat Text" charset="0"/>
                        <a:ea typeface="Red Hat Text" charset="0"/>
                        <a:cs typeface="Red Hat Text" charset="0"/>
                      </a:endParaRPr>
                    </a:p>
                  </a:txBody>
                  <a:tcPr marL="161794" marR="161794" marT="198750" marB="198750" anchor="ctr">
                    <a:lnL w="12700" cap="flat" cmpd="sng" algn="ctr">
                      <a:solidFill>
                        <a:srgbClr val="2A2E32"/>
                      </a:solidFill>
                      <a:prstDash val="solid"/>
                      <a:round/>
                      <a:headEnd type="none" w="med" len="med"/>
                      <a:tailEnd type="none" w="med" len="med"/>
                    </a:lnL>
                    <a:lnR w="12700" cap="flat" cmpd="sng" algn="ctr">
                      <a:solidFill>
                        <a:srgbClr val="2A2E32"/>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700" dirty="0">
                          <a:solidFill>
                            <a:srgbClr val="E4E9EB"/>
                          </a:solidFill>
                          <a:latin typeface="Red Hat Text" pitchFamily="34" charset="0"/>
                          <a:ea typeface="Red Hat Text" pitchFamily="34" charset="-122"/>
                          <a:cs typeface="Red Hat Text" pitchFamily="34" charset="-120"/>
                        </a:rPr>
                        <a:t>CPU and ALU condition flags</a:t>
                      </a:r>
                      <a:endParaRPr lang="en-US" sz="1700" dirty="0">
                        <a:latin typeface="Red Hat Text" charset="0"/>
                        <a:ea typeface="Red Hat Text" charset="0"/>
                        <a:cs typeface="Red Hat Text" charset="0"/>
                      </a:endParaRPr>
                    </a:p>
                  </a:txBody>
                  <a:tcPr marL="161794" marR="161794" marT="198750" marB="198750" anchor="ctr">
                    <a:lnL w="12700" cap="flat" cmpd="sng" algn="ctr">
                      <a:solidFill>
                        <a:srgbClr val="2A2E32"/>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extLst>
                  <a:ext uri="{0D108BD9-81ED-4DB2-BD59-A6C34878D82A}">
                    <a16:rowId xmlns:a16="http://schemas.microsoft.com/office/drawing/2014/main" val="10001"/>
                  </a:ext>
                </a:extLst>
              </a:tr>
              <a:tr h="669214">
                <a:tc>
                  <a:txBody>
                    <a:bodyPr/>
                    <a:lstStyle/>
                    <a:p>
                      <a:pPr marL="0" indent="0">
                        <a:buNone/>
                      </a:pPr>
                      <a:endParaRPr lang="en-US" sz="1800" dirty="0">
                        <a:latin typeface="Red Hat Text" charset="0"/>
                        <a:ea typeface="Red Hat Text" charset="0"/>
                        <a:cs typeface="Red Hat Text" charset="0"/>
                      </a:endParaRPr>
                    </a:p>
                  </a:txBody>
                  <a:tcPr marL="161794" marR="161794" marT="198750" marB="198750" anchor="ctr">
                    <a:lnL w="12700" cap="flat" cmpd="sng" algn="ctr">
                      <a:solidFill>
                        <a:srgbClr val="3F474C"/>
                      </a:solidFill>
                      <a:prstDash val="solid"/>
                      <a:round/>
                      <a:headEnd type="none" w="med" len="med"/>
                      <a:tailEnd type="none" w="med" len="med"/>
                    </a:lnL>
                    <a:lnR w="12700" cap="flat" cmpd="sng" algn="ctr">
                      <a:solidFill>
                        <a:srgbClr val="2A2E32"/>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700" b="1" dirty="0">
                          <a:solidFill>
                            <a:srgbClr val="E4E9EB"/>
                          </a:solidFill>
                          <a:latin typeface="Red Hat Text" pitchFamily="34" charset="0"/>
                          <a:ea typeface="Red Hat Text" pitchFamily="34" charset="-122"/>
                          <a:cs typeface="Red Hat Text" pitchFamily="34" charset="-120"/>
                        </a:rPr>
                        <a:t>A=B → Enable</a:t>
                      </a:r>
                      <a:endParaRPr lang="en-US" sz="1700" dirty="0">
                        <a:latin typeface="Red Hat Text" charset="0"/>
                        <a:ea typeface="Red Hat Text" charset="0"/>
                        <a:cs typeface="Red Hat Text" charset="0"/>
                      </a:endParaRPr>
                    </a:p>
                  </a:txBody>
                  <a:tcPr marL="161794" marR="161794" marT="198750" marB="198750" anchor="ctr">
                    <a:lnL w="12700" cap="flat" cmpd="sng" algn="ctr">
                      <a:solidFill>
                        <a:srgbClr val="2A2E32"/>
                      </a:solidFill>
                      <a:prstDash val="solid"/>
                      <a:round/>
                      <a:headEnd type="none" w="med" len="med"/>
                      <a:tailEnd type="none" w="med" len="med"/>
                    </a:lnL>
                    <a:lnR w="12700" cap="flat" cmpd="sng" algn="ctr">
                      <a:solidFill>
                        <a:srgbClr val="2A2E32"/>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700" dirty="0">
                          <a:solidFill>
                            <a:srgbClr val="E4E9EB"/>
                          </a:solidFill>
                          <a:latin typeface="Red Hat Text" pitchFamily="34" charset="0"/>
                          <a:ea typeface="Red Hat Text" pitchFamily="34" charset="-122"/>
                          <a:cs typeface="Red Hat Text" pitchFamily="34" charset="-120"/>
                        </a:rPr>
                        <a:t>Address-range and limit checking</a:t>
                      </a:r>
                      <a:endParaRPr lang="en-US" sz="1700" dirty="0">
                        <a:latin typeface="Red Hat Text" charset="0"/>
                        <a:ea typeface="Red Hat Text" charset="0"/>
                        <a:cs typeface="Red Hat Text" charset="0"/>
                      </a:endParaRPr>
                    </a:p>
                  </a:txBody>
                  <a:tcPr marL="161794" marR="161794" marT="198750" marB="198750" anchor="ctr">
                    <a:lnL w="12700" cap="flat" cmpd="sng" algn="ctr">
                      <a:solidFill>
                        <a:srgbClr val="2A2E32"/>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extLst>
                  <a:ext uri="{0D108BD9-81ED-4DB2-BD59-A6C34878D82A}">
                    <a16:rowId xmlns:a16="http://schemas.microsoft.com/office/drawing/2014/main" val="10002"/>
                  </a:ext>
                </a:extLst>
              </a:tr>
              <a:tr h="669214">
                <a:tc>
                  <a:txBody>
                    <a:bodyPr/>
                    <a:lstStyle/>
                    <a:p>
                      <a:pPr marL="0" indent="0">
                        <a:buNone/>
                      </a:pPr>
                      <a:endParaRPr lang="en-US" sz="1800" dirty="0">
                        <a:latin typeface="Red Hat Text" charset="0"/>
                        <a:ea typeface="Red Hat Text" charset="0"/>
                        <a:cs typeface="Red Hat Text" charset="0"/>
                      </a:endParaRPr>
                    </a:p>
                  </a:txBody>
                  <a:tcPr marL="161794" marR="161794" marT="198750" marB="198750" anchor="ctr">
                    <a:lnL w="12700" cap="flat" cmpd="sng" algn="ctr">
                      <a:solidFill>
                        <a:srgbClr val="3F474C"/>
                      </a:solidFill>
                      <a:prstDash val="solid"/>
                      <a:round/>
                      <a:headEnd type="none" w="med" len="med"/>
                      <a:tailEnd type="none" w="med" len="med"/>
                    </a:lnL>
                    <a:lnR w="12700" cap="flat" cmpd="sng" algn="ctr">
                      <a:solidFill>
                        <a:srgbClr val="2A2E32"/>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700" b="1" dirty="0">
                          <a:solidFill>
                            <a:srgbClr val="E4E9EB"/>
                          </a:solidFill>
                          <a:latin typeface="Red Hat Text" pitchFamily="34" charset="0"/>
                          <a:ea typeface="Red Hat Text" pitchFamily="34" charset="-122"/>
                          <a:cs typeface="Red Hat Text" pitchFamily="34" charset="-120"/>
                        </a:rPr>
                        <a:t>A&lt;B → Alarm</a:t>
                      </a:r>
                      <a:endParaRPr lang="en-US" sz="1700" dirty="0">
                        <a:latin typeface="Red Hat Text" charset="0"/>
                        <a:ea typeface="Red Hat Text" charset="0"/>
                        <a:cs typeface="Red Hat Text" charset="0"/>
                      </a:endParaRPr>
                    </a:p>
                  </a:txBody>
                  <a:tcPr marL="161794" marR="161794" marT="198750" marB="198750" anchor="ctr">
                    <a:lnL w="12700" cap="flat" cmpd="sng" algn="ctr">
                      <a:solidFill>
                        <a:srgbClr val="2A2E32"/>
                      </a:solidFill>
                      <a:prstDash val="solid"/>
                      <a:round/>
                      <a:headEnd type="none" w="med" len="med"/>
                      <a:tailEnd type="none" w="med" len="med"/>
                    </a:lnL>
                    <a:lnR w="12700" cap="flat" cmpd="sng" algn="ctr">
                      <a:solidFill>
                        <a:srgbClr val="2A2E32"/>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700" dirty="0">
                          <a:solidFill>
                            <a:srgbClr val="E4E9EB"/>
                          </a:solidFill>
                          <a:latin typeface="Red Hat Text" pitchFamily="34" charset="0"/>
                          <a:ea typeface="Red Hat Text" pitchFamily="34" charset="-122"/>
                          <a:cs typeface="Red Hat Text" pitchFamily="34" charset="-120"/>
                        </a:rPr>
                        <a:t>Digital control systems and counters</a:t>
                      </a:r>
                      <a:endParaRPr lang="en-US" sz="1700" dirty="0">
                        <a:latin typeface="Red Hat Text" charset="0"/>
                        <a:ea typeface="Red Hat Text" charset="0"/>
                        <a:cs typeface="Red Hat Text" charset="0"/>
                      </a:endParaRPr>
                    </a:p>
                  </a:txBody>
                  <a:tcPr marL="161794" marR="161794" marT="198750" marB="198750" anchor="ctr">
                    <a:lnL w="12700" cap="flat" cmpd="sng" algn="ctr">
                      <a:solidFill>
                        <a:srgbClr val="2A2E32"/>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extLst>
                  <a:ext uri="{0D108BD9-81ED-4DB2-BD59-A6C34878D82A}">
                    <a16:rowId xmlns:a16="http://schemas.microsoft.com/office/drawing/2014/main" val="10003"/>
                  </a:ext>
                </a:extLst>
              </a:tr>
              <a:tr h="736185">
                <a:tc>
                  <a:txBody>
                    <a:bodyPr/>
                    <a:lstStyle/>
                    <a:p>
                      <a:pPr marL="0" indent="0">
                        <a:buNone/>
                      </a:pPr>
                      <a:endParaRPr lang="en-US" sz="1800" dirty="0">
                        <a:latin typeface="Red Hat Text" charset="0"/>
                        <a:ea typeface="Red Hat Text" charset="0"/>
                        <a:cs typeface="Red Hat Text" charset="0"/>
                      </a:endParaRPr>
                    </a:p>
                  </a:txBody>
                  <a:tcPr marL="161794" marR="161794" marT="108963" marB="108963" anchor="ctr">
                    <a:lnL w="12700" cap="flat" cmpd="sng" algn="ctr">
                      <a:solidFill>
                        <a:srgbClr val="3F474C"/>
                      </a:solidFill>
                      <a:prstDash val="solid"/>
                      <a:round/>
                      <a:headEnd type="none" w="med" len="med"/>
                      <a:tailEnd type="none" w="med" len="med"/>
                    </a:lnL>
                    <a:lnR w="12700" cap="flat" cmpd="sng" algn="ctr">
                      <a:solidFill>
                        <a:srgbClr val="2A2E32"/>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700" b="1" dirty="0">
                          <a:solidFill>
                            <a:srgbClr val="E4E9EB"/>
                          </a:solidFill>
                          <a:latin typeface="Red Hat Text" pitchFamily="34" charset="0"/>
                          <a:ea typeface="Red Hat Text" pitchFamily="34" charset="-122"/>
                          <a:cs typeface="Red Hat Text" pitchFamily="34" charset="-120"/>
                        </a:rPr>
                        <a:t>Select</a:t>
                      </a:r>
                      <a:endParaRPr lang="en-US" sz="1700" dirty="0">
                        <a:latin typeface="Red Hat Text" charset="0"/>
                        <a:ea typeface="Red Hat Text" charset="0"/>
                        <a:cs typeface="Red Hat Text" charset="0"/>
                      </a:endParaRPr>
                    </a:p>
                  </a:txBody>
                  <a:tcPr marL="161794" marR="161794" marT="108963" marB="108963" anchor="ctr">
                    <a:lnL w="12700" cap="flat" cmpd="sng" algn="ctr">
                      <a:solidFill>
                        <a:srgbClr val="2A2E32"/>
                      </a:solidFill>
                      <a:prstDash val="solid"/>
                      <a:round/>
                      <a:headEnd type="none" w="med" len="med"/>
                      <a:tailEnd type="none" w="med" len="med"/>
                    </a:lnL>
                    <a:lnR w="12700" cap="flat" cmpd="sng" algn="ctr">
                      <a:solidFill>
                        <a:srgbClr val="2A2E32"/>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tc>
                  <a:txBody>
                    <a:bodyPr/>
                    <a:lstStyle/>
                    <a:p>
                      <a:pPr marL="0" indent="0" algn="l">
                        <a:buNone/>
                      </a:pPr>
                      <a:r>
                        <a:rPr lang="en-US" sz="1700" dirty="0">
                          <a:solidFill>
                            <a:srgbClr val="E4E9EB"/>
                          </a:solidFill>
                          <a:latin typeface="Red Hat Text" pitchFamily="34" charset="0"/>
                          <a:ea typeface="Red Hat Text" pitchFamily="34" charset="-122"/>
                          <a:cs typeface="Red Hat Text" pitchFamily="34" charset="-120"/>
                        </a:rPr>
                        <a:t>Sorting, selection, and priority circuits</a:t>
                      </a:r>
                      <a:endParaRPr lang="en-US" sz="1700" dirty="0">
                        <a:latin typeface="Red Hat Text" charset="0"/>
                        <a:ea typeface="Red Hat Text" charset="0"/>
                        <a:cs typeface="Red Hat Text" charset="0"/>
                      </a:endParaRPr>
                    </a:p>
                  </a:txBody>
                  <a:tcPr marL="161794" marR="161794" marT="108963" marB="108963" anchor="ctr">
                    <a:lnL w="12700" cap="flat" cmpd="sng" algn="ctr">
                      <a:solidFill>
                        <a:srgbClr val="2A2E32"/>
                      </a:solidFill>
                      <a:prstDash val="solid"/>
                      <a:round/>
                      <a:headEnd type="none" w="med" len="med"/>
                      <a:tailEnd type="none" w="med" len="med"/>
                    </a:lnL>
                    <a:lnR w="12700" cap="flat" cmpd="sng" algn="ctr">
                      <a:solidFill>
                        <a:srgbClr val="3F474C"/>
                      </a:solidFill>
                      <a:prstDash val="solid"/>
                      <a:round/>
                      <a:headEnd type="none" w="med" len="med"/>
                      <a:tailEnd type="none" w="med" len="med"/>
                    </a:lnR>
                    <a:lnT w="12700" cap="flat" cmpd="sng" algn="ctr">
                      <a:solidFill>
                        <a:srgbClr val="3F474C"/>
                      </a:solidFill>
                      <a:prstDash val="solid"/>
                      <a:round/>
                      <a:headEnd type="none" w="med" len="med"/>
                      <a:tailEnd type="none" w="med" len="med"/>
                    </a:lnT>
                    <a:lnB w="12700" cap="flat" cmpd="sng" algn="ctr">
                      <a:solidFill>
                        <a:srgbClr val="3F474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7" name="Image 1" descr="preencoded.png"/>
          <p:cNvPicPr>
            <a:picLocks noChangeAspect="1"/>
          </p:cNvPicPr>
          <p:nvPr/>
        </p:nvPicPr>
        <p:blipFill>
          <a:blip r:embed="rId4"/>
          <a:stretch>
            <a:fillRect/>
          </a:stretch>
        </p:blipFill>
        <p:spPr>
          <a:xfrm>
            <a:off x="771208" y="3874294"/>
            <a:ext cx="269571" cy="269577"/>
          </a:xfrm>
          <a:prstGeom prst="rect">
            <a:avLst/>
          </a:prstGeom>
        </p:spPr>
      </p:pic>
      <p:pic>
        <p:nvPicPr>
          <p:cNvPr id="6" name="Image 2" descr="preencoded.png"/>
          <p:cNvPicPr>
            <a:picLocks noChangeAspect="1"/>
          </p:cNvPicPr>
          <p:nvPr/>
        </p:nvPicPr>
        <p:blipFill>
          <a:blip r:embed="rId5"/>
          <a:stretch>
            <a:fillRect/>
          </a:stretch>
        </p:blipFill>
        <p:spPr>
          <a:xfrm>
            <a:off x="771208" y="4543623"/>
            <a:ext cx="269571" cy="269577"/>
          </a:xfrm>
          <a:prstGeom prst="rect">
            <a:avLst/>
          </a:prstGeom>
        </p:spPr>
      </p:pic>
      <p:pic>
        <p:nvPicPr>
          <p:cNvPr id="9" name="Image 3" descr="preencoded.png"/>
          <p:cNvPicPr>
            <a:picLocks noChangeAspect="1"/>
          </p:cNvPicPr>
          <p:nvPr/>
        </p:nvPicPr>
        <p:blipFill>
          <a:blip r:embed="rId6"/>
          <a:stretch>
            <a:fillRect/>
          </a:stretch>
        </p:blipFill>
        <p:spPr>
          <a:xfrm>
            <a:off x="771208" y="5213052"/>
            <a:ext cx="269571" cy="269577"/>
          </a:xfrm>
          <a:prstGeom prst="rect">
            <a:avLst/>
          </a:prstGeom>
        </p:spPr>
      </p:pic>
      <p:pic>
        <p:nvPicPr>
          <p:cNvPr id="10" name="Image 4" descr="preencoded.png"/>
          <p:cNvPicPr>
            <a:picLocks noChangeAspect="1"/>
          </p:cNvPicPr>
          <p:nvPr/>
        </p:nvPicPr>
        <p:blipFill>
          <a:blip r:embed="rId7"/>
          <a:stretch>
            <a:fillRect/>
          </a:stretch>
        </p:blipFill>
        <p:spPr>
          <a:xfrm>
            <a:off x="771208" y="5882382"/>
            <a:ext cx="269571" cy="269577"/>
          </a:xfrm>
          <a:prstGeom prst="rect">
            <a:avLst/>
          </a:prstGeom>
        </p:spPr>
      </p:pic>
      <p:sp>
        <p:nvSpPr>
          <p:cNvPr id="11" name="Text 3"/>
          <p:cNvSpPr/>
          <p:nvPr/>
        </p:nvSpPr>
        <p:spPr>
          <a:xfrm>
            <a:off x="609585" y="6525716"/>
            <a:ext cx="6603835" cy="412750"/>
          </a:xfrm>
          <a:prstGeom prst="rect">
            <a:avLst/>
          </a:prstGeom>
          <a:noFill/>
          <a:ln/>
        </p:spPr>
        <p:txBody>
          <a:bodyPr wrap="square" lIns="0" tIns="0" rIns="0" bIns="0" rtlCol="0" anchor="t">
            <a:normAutofit/>
          </a:bodyPr>
          <a:lstStyle/>
          <a:p>
            <a:pPr marL="0" indent="0" algn="l">
              <a:lnSpc>
                <a:spcPct val="108000"/>
              </a:lnSpc>
              <a:buNone/>
            </a:pPr>
            <a:r>
              <a:rPr lang="en-US" sz="1250" kern="100" spc="6" dirty="0">
                <a:solidFill>
                  <a:srgbClr val="A9B6BB"/>
                </a:solidFill>
                <a:latin typeface="Red Hat Text" pitchFamily="34" charset="0"/>
                <a:ea typeface="Red Hat Text" pitchFamily="34" charset="-122"/>
                <a:cs typeface="Red Hat Text" pitchFamily="34" charset="-120"/>
              </a:rPr>
              <a:t>The comparator does not make the final system decision. It supplies a clean condition for the next circuit.</a:t>
            </a:r>
            <a:endParaRPr lang="en-US" sz="1250" dirty="0"/>
          </a:p>
        </p:txBody>
      </p:sp>
      <p:pic>
        <p:nvPicPr>
          <p:cNvPr id="12" name="Image 5" descr="preencoded.png"/>
          <p:cNvPicPr>
            <a:picLocks noChangeAspect="1"/>
          </p:cNvPicPr>
          <p:nvPr/>
        </p:nvPicPr>
        <p:blipFill>
          <a:blip r:embed="rId8"/>
          <a:stretch>
            <a:fillRect/>
          </a:stretch>
        </p:blipFill>
        <p:spPr>
          <a:xfrm>
            <a:off x="8889778" y="609600"/>
            <a:ext cx="2692333" cy="35898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7000" y="6559252"/>
            <a:ext cx="1071833" cy="255984"/>
          </a:xfrm>
          <a:prstGeom prst="rect">
            <a:avLst/>
          </a:prstGeom>
        </p:spPr>
      </p:pic>
      <p:sp>
        <p:nvSpPr>
          <p:cNvPr id="3" name="Text 0"/>
          <p:cNvSpPr/>
          <p:nvPr/>
        </p:nvSpPr>
        <p:spPr>
          <a:xfrm>
            <a:off x="609585" y="621209"/>
            <a:ext cx="7374646" cy="166687"/>
          </a:xfrm>
          <a:prstGeom prst="rect">
            <a:avLst/>
          </a:prstGeom>
          <a:noFill/>
          <a:ln/>
        </p:spPr>
        <p:txBody>
          <a:bodyPr wrap="none" lIns="0" tIns="0" rIns="0" bIns="0" rtlCol="0" anchor="t"/>
          <a:lstStyle/>
          <a:p>
            <a:pPr marL="0" indent="0" algn="l">
              <a:lnSpc>
                <a:spcPct val="104000"/>
              </a:lnSpc>
              <a:buNone/>
            </a:pPr>
            <a:r>
              <a:rPr lang="en-US" sz="1050" kern="100" spc="84" dirty="0">
                <a:solidFill>
                  <a:srgbClr val="D3E6EE"/>
                </a:solidFill>
                <a:latin typeface="Red Hat Mono" pitchFamily="34" charset="0"/>
                <a:ea typeface="Red Hat Mono" pitchFamily="34" charset="-122"/>
                <a:cs typeface="Red Hat Mono" pitchFamily="34" charset="-120"/>
              </a:rPr>
              <a:t>IMPLEMENTATION CHECKLIST</a:t>
            </a:r>
            <a:endParaRPr lang="en-US" sz="1050" dirty="0"/>
          </a:p>
        </p:txBody>
      </p:sp>
      <p:sp>
        <p:nvSpPr>
          <p:cNvPr id="4" name="Text 1"/>
          <p:cNvSpPr/>
          <p:nvPr/>
        </p:nvSpPr>
        <p:spPr>
          <a:xfrm>
            <a:off x="609585" y="850417"/>
            <a:ext cx="6155476" cy="397669"/>
          </a:xfrm>
          <a:prstGeom prst="rect">
            <a:avLst/>
          </a:prstGeom>
          <a:noFill/>
          <a:ln/>
        </p:spPr>
        <p:txBody>
          <a:bodyPr wrap="none" lIns="0" tIns="0" rIns="0" bIns="0" rtlCol="0" anchor="t"/>
          <a:lstStyle/>
          <a:p>
            <a:pPr marL="0" indent="0" algn="l">
              <a:lnSpc>
                <a:spcPct val="90000"/>
              </a:lnSpc>
              <a:buNone/>
            </a:pPr>
            <a:r>
              <a:rPr lang="en-US" sz="2900" b="1" kern="100" spc="-29" dirty="0">
                <a:solidFill>
                  <a:srgbClr val="F4B23E"/>
                </a:solidFill>
                <a:latin typeface="Playfair Display Bold" pitchFamily="34" charset="0"/>
                <a:ea typeface="Playfair Display Bold" pitchFamily="34" charset="-122"/>
                <a:cs typeface="Playfair Display Bold" pitchFamily="34" charset="-120"/>
              </a:rPr>
              <a:t>Conclusion</a:t>
            </a:r>
            <a:endParaRPr lang="en-US" sz="2900" dirty="0"/>
          </a:p>
        </p:txBody>
      </p:sp>
      <p:sp>
        <p:nvSpPr>
          <p:cNvPr id="5" name="Text 2"/>
          <p:cNvSpPr/>
          <p:nvPr/>
        </p:nvSpPr>
        <p:spPr>
          <a:xfrm>
            <a:off x="609585" y="1612514"/>
            <a:ext cx="1785000" cy="292199"/>
          </a:xfrm>
          <a:prstGeom prst="rect">
            <a:avLst/>
          </a:prstGeom>
          <a:noFill/>
          <a:ln/>
        </p:spPr>
        <p:txBody>
          <a:bodyPr wrap="none" lIns="0" tIns="0" rIns="0" bIns="0" rtlCol="0" anchor="t"/>
          <a:lstStyle/>
          <a:p>
            <a:pPr marL="0" indent="0" algn="l">
              <a:lnSpc>
                <a:spcPct val="98000"/>
              </a:lnSpc>
              <a:buNone/>
            </a:pPr>
            <a:r>
              <a:rPr lang="en-US" sz="1950" b="1" dirty="0">
                <a:solidFill>
                  <a:srgbClr val="F4B23E"/>
                </a:solidFill>
                <a:latin typeface="Red Hat Text Bold" pitchFamily="34" charset="0"/>
                <a:ea typeface="Red Hat Text Bold" pitchFamily="34" charset="-122"/>
                <a:cs typeface="Red Hat Text Bold" pitchFamily="34" charset="-120"/>
              </a:rPr>
              <a:t>Assemble</a:t>
            </a:r>
            <a:endParaRPr lang="en-US" sz="1950" dirty="0"/>
          </a:p>
        </p:txBody>
      </p:sp>
      <p:sp>
        <p:nvSpPr>
          <p:cNvPr id="6" name="Text 3"/>
          <p:cNvSpPr/>
          <p:nvPr/>
        </p:nvSpPr>
        <p:spPr>
          <a:xfrm>
            <a:off x="609585" y="1980009"/>
            <a:ext cx="1842148" cy="738188"/>
          </a:xfrm>
          <a:prstGeom prst="rect">
            <a:avLst/>
          </a:prstGeom>
          <a:noFill/>
          <a:ln/>
        </p:spPr>
        <p:txBody>
          <a:bodyPr wrap="square" lIns="0" tIns="0" rIns="0" bIns="0" rtlCol="0" anchor="t">
            <a:normAutofit/>
          </a:bodyPr>
          <a:lstStyle/>
          <a:p>
            <a:pPr marL="0" indent="0" algn="l">
              <a:lnSpc>
                <a:spcPct val="104000"/>
              </a:lnSpc>
              <a:buNone/>
            </a:pPr>
            <a:r>
              <a:rPr lang="en-US" sz="1550" dirty="0">
                <a:solidFill>
                  <a:srgbClr val="E4E9EB"/>
                </a:solidFill>
                <a:latin typeface="Red Hat Text" pitchFamily="34" charset="0"/>
                <a:ea typeface="Red Hat Text" pitchFamily="34" charset="-122"/>
                <a:cs typeface="Red Hat Text" pitchFamily="34" charset="-120"/>
              </a:rPr>
              <a:t>Use XNOR, NOT, AND, and OR gates, or a comparator IC.</a:t>
            </a:r>
            <a:endParaRPr lang="en-US" sz="1550" dirty="0"/>
          </a:p>
        </p:txBody>
      </p:sp>
      <p:sp>
        <p:nvSpPr>
          <p:cNvPr id="7" name="Text 4"/>
          <p:cNvSpPr/>
          <p:nvPr/>
        </p:nvSpPr>
        <p:spPr>
          <a:xfrm>
            <a:off x="2908922" y="1612514"/>
            <a:ext cx="1556505" cy="292199"/>
          </a:xfrm>
          <a:prstGeom prst="rect">
            <a:avLst/>
          </a:prstGeom>
          <a:noFill/>
          <a:ln/>
        </p:spPr>
        <p:txBody>
          <a:bodyPr wrap="none" lIns="0" tIns="0" rIns="0" bIns="0" rtlCol="0" anchor="t"/>
          <a:lstStyle/>
          <a:p>
            <a:pPr marL="0" indent="0" algn="l">
              <a:lnSpc>
                <a:spcPct val="98000"/>
              </a:lnSpc>
              <a:buNone/>
            </a:pPr>
            <a:r>
              <a:rPr lang="en-US" sz="1950" b="1" dirty="0">
                <a:solidFill>
                  <a:srgbClr val="F4B23E"/>
                </a:solidFill>
                <a:latin typeface="Red Hat Text Bold" pitchFamily="34" charset="0"/>
                <a:ea typeface="Red Hat Text Bold" pitchFamily="34" charset="-122"/>
                <a:cs typeface="Red Hat Text Bold" pitchFamily="34" charset="-120"/>
              </a:rPr>
              <a:t>Verify</a:t>
            </a:r>
            <a:endParaRPr lang="en-US" sz="1950" dirty="0"/>
          </a:p>
        </p:txBody>
      </p:sp>
      <p:sp>
        <p:nvSpPr>
          <p:cNvPr id="8" name="Text 5"/>
          <p:cNvSpPr/>
          <p:nvPr/>
        </p:nvSpPr>
        <p:spPr>
          <a:xfrm>
            <a:off x="2908922" y="1980009"/>
            <a:ext cx="1556505" cy="1230313"/>
          </a:xfrm>
          <a:prstGeom prst="rect">
            <a:avLst/>
          </a:prstGeom>
          <a:noFill/>
          <a:ln/>
        </p:spPr>
        <p:txBody>
          <a:bodyPr wrap="square" lIns="0" tIns="0" rIns="0" bIns="0" rtlCol="0" anchor="t">
            <a:normAutofit/>
          </a:bodyPr>
          <a:lstStyle/>
          <a:p>
            <a:pPr marL="0" indent="0" algn="l">
              <a:lnSpc>
                <a:spcPct val="104000"/>
              </a:lnSpc>
              <a:buNone/>
            </a:pPr>
            <a:r>
              <a:rPr lang="en-US" sz="1550" dirty="0">
                <a:solidFill>
                  <a:srgbClr val="E4E9EB"/>
                </a:solidFill>
                <a:latin typeface="Red Hat Text" pitchFamily="34" charset="0"/>
                <a:ea typeface="Red Hat Text" pitchFamily="34" charset="-122"/>
                <a:cs typeface="Red Hat Text" pitchFamily="34" charset="-120"/>
              </a:rPr>
              <a:t>For every input pair—equal or unequal—exactly one output is high.</a:t>
            </a:r>
            <a:endParaRPr lang="en-US" sz="1550" dirty="0"/>
          </a:p>
        </p:txBody>
      </p:sp>
      <p:sp>
        <p:nvSpPr>
          <p:cNvPr id="9" name="Text 6"/>
          <p:cNvSpPr/>
          <p:nvPr/>
        </p:nvSpPr>
        <p:spPr>
          <a:xfrm>
            <a:off x="4979863" y="1612514"/>
            <a:ext cx="1785000" cy="292199"/>
          </a:xfrm>
          <a:prstGeom prst="rect">
            <a:avLst/>
          </a:prstGeom>
          <a:noFill/>
          <a:ln/>
        </p:spPr>
        <p:txBody>
          <a:bodyPr wrap="none" lIns="0" tIns="0" rIns="0" bIns="0" rtlCol="0" anchor="t"/>
          <a:lstStyle/>
          <a:p>
            <a:pPr marL="0" indent="0" algn="l">
              <a:lnSpc>
                <a:spcPct val="98000"/>
              </a:lnSpc>
              <a:buNone/>
            </a:pPr>
            <a:r>
              <a:rPr lang="en-US" sz="1950" b="1" dirty="0">
                <a:solidFill>
                  <a:srgbClr val="F4B23E"/>
                </a:solidFill>
                <a:latin typeface="Red Hat Text Bold" pitchFamily="34" charset="0"/>
                <a:ea typeface="Red Hat Text Bold" pitchFamily="34" charset="-122"/>
                <a:cs typeface="Red Hat Text Bold" pitchFamily="34" charset="-120"/>
              </a:rPr>
              <a:t>Expand</a:t>
            </a:r>
            <a:endParaRPr lang="en-US" sz="1950" dirty="0"/>
          </a:p>
        </p:txBody>
      </p:sp>
      <p:sp>
        <p:nvSpPr>
          <p:cNvPr id="10" name="Text 7"/>
          <p:cNvSpPr/>
          <p:nvPr/>
        </p:nvSpPr>
        <p:spPr>
          <a:xfrm>
            <a:off x="4979863" y="1980009"/>
            <a:ext cx="1785000" cy="738188"/>
          </a:xfrm>
          <a:prstGeom prst="rect">
            <a:avLst/>
          </a:prstGeom>
          <a:noFill/>
          <a:ln/>
        </p:spPr>
        <p:txBody>
          <a:bodyPr wrap="square" lIns="0" tIns="0" rIns="0" bIns="0" rtlCol="0" anchor="t">
            <a:normAutofit/>
          </a:bodyPr>
          <a:lstStyle/>
          <a:p>
            <a:pPr marL="0" indent="0" algn="l">
              <a:lnSpc>
                <a:spcPct val="104000"/>
              </a:lnSpc>
              <a:buNone/>
            </a:pPr>
            <a:r>
              <a:rPr lang="en-US" sz="1550" dirty="0">
                <a:solidFill>
                  <a:srgbClr val="E4E9EB"/>
                </a:solidFill>
                <a:latin typeface="Red Hat Text" pitchFamily="34" charset="0"/>
                <a:ea typeface="Red Hat Text" pitchFamily="34" charset="-122"/>
                <a:cs typeface="Red Hat Text" pitchFamily="34" charset="-120"/>
              </a:rPr>
              <a:t>Expand to wider words by cascading comparator stages.</a:t>
            </a:r>
            <a:endParaRPr lang="en-US" sz="1550" dirty="0"/>
          </a:p>
        </p:txBody>
      </p:sp>
      <p:sp>
        <p:nvSpPr>
          <p:cNvPr id="11" name="Text 8"/>
          <p:cNvSpPr/>
          <p:nvPr/>
        </p:nvSpPr>
        <p:spPr>
          <a:xfrm>
            <a:off x="609585" y="3438922"/>
            <a:ext cx="6212625" cy="1230313"/>
          </a:xfrm>
          <a:prstGeom prst="rect">
            <a:avLst/>
          </a:prstGeom>
          <a:noFill/>
          <a:ln/>
        </p:spPr>
        <p:txBody>
          <a:bodyPr wrap="square" lIns="0" tIns="0" rIns="0" bIns="0" rtlCol="0" anchor="t">
            <a:normAutofit/>
          </a:bodyPr>
          <a:lstStyle/>
          <a:p>
            <a:pPr marL="0" indent="0" algn="l">
              <a:lnSpc>
                <a:spcPct val="104000"/>
              </a:lnSpc>
              <a:buNone/>
            </a:pPr>
            <a:r>
              <a:rPr lang="en-US" sz="1550" dirty="0">
                <a:solidFill>
                  <a:srgbClr val="E4E9EB"/>
                </a:solidFill>
                <a:latin typeface="Red Hat Text" pitchFamily="34" charset="0"/>
                <a:ea typeface="Red Hat Text" pitchFamily="34" charset="-122"/>
                <a:cs typeface="Red Hat Text" pitchFamily="34" charset="-120"/>
              </a:rPr>
              <a:t>A 4-bit magnitude comparator reaches one clear decision by checking the most significant unequal bit first, so the whole result follows from a single priority rule. That speed and reliability make comparators essential wherever digital systems must rank, sort, or compare values quickly.</a:t>
            </a:r>
            <a:endParaRPr lang="en-US" sz="1550" dirty="0"/>
          </a:p>
        </p:txBody>
      </p:sp>
      <p:sp>
        <p:nvSpPr>
          <p:cNvPr id="13" name="Shape 9"/>
          <p:cNvSpPr/>
          <p:nvPr/>
        </p:nvSpPr>
        <p:spPr>
          <a:xfrm>
            <a:off x="2673978" y="1593255"/>
            <a:ext cx="12700" cy="1629767"/>
          </a:xfrm>
          <a:prstGeom prst="rect">
            <a:avLst/>
          </a:prstGeom>
          <a:solidFill>
            <a:srgbClr val="3F474C"/>
          </a:solidFill>
          <a:ln/>
        </p:spPr>
      </p:sp>
      <p:sp>
        <p:nvSpPr>
          <p:cNvPr id="14" name="Shape 10"/>
          <p:cNvSpPr/>
          <p:nvPr/>
        </p:nvSpPr>
        <p:spPr>
          <a:xfrm>
            <a:off x="4744919" y="1593255"/>
            <a:ext cx="12700" cy="1629767"/>
          </a:xfrm>
          <a:prstGeom prst="rect">
            <a:avLst/>
          </a:prstGeom>
          <a:solidFill>
            <a:srgbClr val="3F474C"/>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epicts a digital logic diagram with two parallel lines, each containing three binary inputs (B3 and B2) and their corresponding outputs, which are not specified.&#10;&#10;AI-generated content may be incorrect.">
            <a:extLst>
              <a:ext uri="{FF2B5EF4-FFF2-40B4-BE49-F238E27FC236}">
                <a16:creationId xmlns:a16="http://schemas.microsoft.com/office/drawing/2014/main" id="{418EC931-17C7-5042-4775-AC6CCCD7E47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965111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874</Words>
  <Application>Microsoft Office PowerPoint</Application>
  <PresentationFormat>Widescreen</PresentationFormat>
  <Paragraphs>135</Paragraphs>
  <Slides>9</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Red Hat Text</vt:lpstr>
      <vt:lpstr>Red Hat Text SemiBold</vt:lpstr>
      <vt:lpstr>Playfair Display Bold</vt:lpstr>
      <vt:lpstr>Red Hat Text Bold</vt:lpstr>
      <vt:lpstr>Red Hat Mono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vaishnavi .M</cp:lastModifiedBy>
  <cp:revision>5</cp:revision>
  <dcterms:created xsi:type="dcterms:W3CDTF">2026-10-14T13:17:05Z</dcterms:created>
  <dcterms:modified xsi:type="dcterms:W3CDTF">2026-10-15T03:42:51Z</dcterms:modified>
</cp:coreProperties>
</file>